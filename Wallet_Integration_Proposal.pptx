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pn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pn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png"/><Relationship Id="rId17" Type="http://schemas.openxmlformats.org/officeDocument/2006/relationships/image" Target="../media/image-17-17.png"/><Relationship Id="rId18" Type="http://schemas.openxmlformats.org/officeDocument/2006/relationships/image" Target="../media/image-17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-1371600"/>
            <a:ext cx="5486400" cy="5486400"/>
          </a:xfrm>
          <a:prstGeom prst="ellipse">
            <a:avLst/>
          </a:prstGeom>
          <a:solidFill>
            <a:srgbClr val="1A2D5C">
              <a:alpha val="50000"/>
            </a:srgbClr>
          </a:solidFill>
          <a:ln w="12700">
            <a:solidFill>
              <a:srgbClr val="1A2D5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9840" y="3657600"/>
            <a:ext cx="3657600" cy="3657600"/>
          </a:xfrm>
          <a:prstGeom prst="ellipse">
            <a:avLst/>
          </a:prstGeom>
          <a:solidFill>
            <a:srgbClr val="4F7CAC">
              <a:alpha val="30000"/>
            </a:srgbClr>
          </a:solidFill>
          <a:ln w="12700">
            <a:solidFill>
              <a:srgbClr val="4F7CAC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822960"/>
            <a:ext cx="914400" cy="9144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2011680"/>
            <a:ext cx="914400" cy="914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772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FOR italdizan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77240" y="1371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Wallet &amp; Google Wallet</a:t>
            </a:r>
            <a:endParaRPr lang="en-US" sz="4800" dirty="0"/>
          </a:p>
        </p:txBody>
      </p:sp>
      <p:sp>
        <p:nvSpPr>
          <p:cNvPr id="9" name="Text 5"/>
          <p:cNvSpPr/>
          <p:nvPr/>
        </p:nvSpPr>
        <p:spPr>
          <a:xfrm>
            <a:off x="777240" y="2194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for italdizan Loyalty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777240" y="3200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8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Digitalization of the loyalty program — real-time, secure, and scalable.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777240" y="4023360"/>
            <a:ext cx="2286000" cy="457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7724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8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7724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Walvero Loyalty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02920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8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0292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777240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8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772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777240" y="6217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Prepared for italdizan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029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in this proposal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58952" y="1664208"/>
            <a:ext cx="3328416" cy="694944"/>
          </a:xfrm>
          <a:prstGeom prst="rect">
            <a:avLst/>
          </a:prstGeom>
          <a:solidFill>
            <a:srgbClr val="F8F9FB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1664208"/>
            <a:ext cx="54864" cy="694944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7099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23544" y="207568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Your Needs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23544" y="2377440"/>
            <a:ext cx="3054096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of business and technical requirements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16552" y="1664208"/>
            <a:ext cx="3328416" cy="694944"/>
          </a:xfrm>
          <a:prstGeom prst="rect">
            <a:avLst/>
          </a:prstGeom>
          <a:solidFill>
            <a:srgbClr val="F8F9FB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16552" y="1664208"/>
            <a:ext cx="54864" cy="694944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81144" y="17099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81144" y="207568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Overview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81144" y="2377440"/>
            <a:ext cx="3054096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Walvero platform at a glance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74152" y="1664208"/>
            <a:ext cx="3328416" cy="694944"/>
          </a:xfrm>
          <a:prstGeom prst="rect">
            <a:avLst/>
          </a:prstGeom>
          <a:solidFill>
            <a:srgbClr val="F8F9FB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74152" y="1664208"/>
            <a:ext cx="54864" cy="694944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38744" y="17099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38744" y="207568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Choose Our Platform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38744" y="2377440"/>
            <a:ext cx="3054096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Differentiators and proven track record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8952" y="2578608"/>
            <a:ext cx="3328416" cy="694944"/>
          </a:xfrm>
          <a:prstGeom prst="rect">
            <a:avLst/>
          </a:prstGeom>
          <a:solidFill>
            <a:srgbClr val="F8F9FB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" y="2578608"/>
            <a:ext cx="54864" cy="694944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3544" y="26243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23544" y="299008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3544" y="3291840"/>
            <a:ext cx="3054096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1C, the API and the wallets connect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16552" y="2578608"/>
            <a:ext cx="3328416" cy="694944"/>
          </a:xfrm>
          <a:prstGeom prst="rect">
            <a:avLst/>
          </a:prstGeom>
          <a:solidFill>
            <a:srgbClr val="F8F9FB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16552" y="2578608"/>
            <a:ext cx="54864" cy="694944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81144" y="26243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581144" y="299008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&amp; Google Wallet Modules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81144" y="3291840"/>
            <a:ext cx="3054096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generation, updates, redemption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74152" y="2578608"/>
            <a:ext cx="3328416" cy="694944"/>
          </a:xfrm>
          <a:prstGeom prst="rect">
            <a:avLst/>
          </a:prstGeom>
          <a:solidFill>
            <a:srgbClr val="F8F9FB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74152" y="2578608"/>
            <a:ext cx="54864" cy="694944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38744" y="26243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238744" y="299008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 &amp; Push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38744" y="3291840"/>
            <a:ext cx="3054096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APNS and FCM messaging pipeline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58952" y="3493008"/>
            <a:ext cx="3328416" cy="694944"/>
          </a:xfrm>
          <a:prstGeom prst="rect">
            <a:avLst/>
          </a:prstGeom>
          <a:solidFill>
            <a:srgbClr val="F8F9FB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8952" y="3493008"/>
            <a:ext cx="54864" cy="694944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3544" y="35387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23544" y="390448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 ↔ API Integration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23544" y="4206240"/>
            <a:ext cx="3054096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Endpoints, fields, security, formats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416552" y="3493008"/>
            <a:ext cx="3328416" cy="694944"/>
          </a:xfrm>
          <a:prstGeom prst="rect">
            <a:avLst/>
          </a:prstGeom>
          <a:solidFill>
            <a:srgbClr val="F8F9FB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16552" y="3493008"/>
            <a:ext cx="54864" cy="694944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81144" y="35387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4581144" y="390448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Business Flows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581144" y="4206240"/>
            <a:ext cx="3054096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earning, redeeming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074152" y="3493008"/>
            <a:ext cx="3328416" cy="694944"/>
          </a:xfrm>
          <a:prstGeom prst="rect">
            <a:avLst/>
          </a:prstGeom>
          <a:solidFill>
            <a:srgbClr val="F8F9FB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074152" y="3493008"/>
            <a:ext cx="54864" cy="694944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38744" y="35387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8238744" y="390448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Sequence Diagram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238744" y="4206240"/>
            <a:ext cx="3054096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schema of all three flows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58952" y="4407408"/>
            <a:ext cx="3328416" cy="694944"/>
          </a:xfrm>
          <a:prstGeom prst="rect">
            <a:avLst/>
          </a:prstGeom>
          <a:solidFill>
            <a:srgbClr val="F8F9FB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58952" y="4407408"/>
            <a:ext cx="54864" cy="694944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23544" y="44531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923544" y="481888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Design Best Practices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923544" y="5120640"/>
            <a:ext cx="3054096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UX/UI guidance per platform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416552" y="4407408"/>
            <a:ext cx="3328416" cy="694944"/>
          </a:xfrm>
          <a:prstGeom prst="rect">
            <a:avLst/>
          </a:prstGeom>
          <a:solidFill>
            <a:srgbClr val="F8F9FB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416552" y="4407408"/>
            <a:ext cx="54864" cy="694944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81144" y="44531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58" name="Text 56"/>
          <p:cNvSpPr/>
          <p:nvPr/>
        </p:nvSpPr>
        <p:spPr>
          <a:xfrm>
            <a:off x="4581144" y="481888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4581144" y="5120640"/>
            <a:ext cx="3054096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Encryption, isolation, NDA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8074152" y="4407408"/>
            <a:ext cx="3328416" cy="694944"/>
          </a:xfrm>
          <a:prstGeom prst="rect">
            <a:avLst/>
          </a:prstGeom>
          <a:solidFill>
            <a:srgbClr val="F8F9FB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074152" y="4407408"/>
            <a:ext cx="54864" cy="694944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238744" y="44531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8238744" y="481888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8238744" y="5120640"/>
            <a:ext cx="3054096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reports and KPIs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58952" y="5321808"/>
            <a:ext cx="3328416" cy="694944"/>
          </a:xfrm>
          <a:prstGeom prst="rect">
            <a:avLst/>
          </a:prstGeom>
          <a:solidFill>
            <a:srgbClr val="F8F9FB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58952" y="5321808"/>
            <a:ext cx="54864" cy="694944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23544" y="53675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200" dirty="0"/>
          </a:p>
        </p:txBody>
      </p:sp>
      <p:sp>
        <p:nvSpPr>
          <p:cNvPr id="68" name="Text 66"/>
          <p:cNvSpPr/>
          <p:nvPr/>
        </p:nvSpPr>
        <p:spPr>
          <a:xfrm>
            <a:off x="923544" y="573328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Phases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923544" y="6035040"/>
            <a:ext cx="3054096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roadmap and milestones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416552" y="5321808"/>
            <a:ext cx="3328416" cy="694944"/>
          </a:xfrm>
          <a:prstGeom prst="rect">
            <a:avLst/>
          </a:prstGeom>
          <a:solidFill>
            <a:srgbClr val="F8F9FB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416552" y="5321808"/>
            <a:ext cx="54864" cy="694944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81144" y="53675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200" dirty="0"/>
          </a:p>
        </p:txBody>
      </p:sp>
      <p:sp>
        <p:nvSpPr>
          <p:cNvPr id="73" name="Text 71"/>
          <p:cNvSpPr/>
          <p:nvPr/>
        </p:nvSpPr>
        <p:spPr>
          <a:xfrm>
            <a:off x="4581144" y="573328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Estimate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4581144" y="6035040"/>
            <a:ext cx="3054096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breakdown by phase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Integration Proposal • Walvero Loyalty → italdizan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029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italdizan's Needs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of your stated requirements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554480"/>
            <a:ext cx="5120640" cy="457200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68680" y="3136392"/>
            <a:ext cx="548640" cy="36576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246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migration target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2286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3200400" y="3136392"/>
            <a:ext cx="548640" cy="36576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3246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/ warehouses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4160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868680" y="5010912"/>
            <a:ext cx="548640" cy="36576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5120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 ID (phone)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4160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+ AZN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3200400" y="5010912"/>
            <a:ext cx="548640" cy="36576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5120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cashback + discount tiers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350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REQUESTED</a:t>
            </a:r>
            <a:endParaRPr lang="en-US" sz="12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2286000"/>
            <a:ext cx="256032" cy="25603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400800" y="22402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plastic cards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00800" y="2514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digital migration to Apple &amp; Google Wallet</a:t>
            </a:r>
            <a:endParaRPr lang="en-US" sz="11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944368"/>
            <a:ext cx="256032" cy="25603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400800" y="28986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1C ↔ API sync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400800" y="317296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generated, updated and synced automatically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602736"/>
            <a:ext cx="256032" cy="25603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400800" y="355701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data on pass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6400800" y="383133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cashback %, accumulated balance, statuses</a:t>
            </a:r>
            <a:endParaRPr lang="en-US" sz="11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4261104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400800" y="421538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6400800" y="4489704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and balance updates pushed to the device</a:t>
            </a:r>
            <a:endParaRPr lang="en-US" sz="11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919472"/>
            <a:ext cx="256032" cy="25603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400800" y="48737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dashboards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6400800" y="514807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Visualisations of purchases, customers, card use</a:t>
            </a:r>
            <a:endParaRPr lang="en-US" sz="110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5577840"/>
            <a:ext cx="256032" cy="25603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400800" y="55321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&amp; NDA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6400800" y="5806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protection and confidentiality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Integration Proposal • Walvero Loyalty → italdizan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029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loyalty platform with native Wallet support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10972800" cy="137160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28800"/>
            <a:ext cx="777240" cy="777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691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LoyaltyApi — multi-tenant SaaS, .NET 8 + EF Core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83080" y="21488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battle-tested platform — Apple Wallet, Google Wallet, POS sync, push notifications, customer enrolment, branch management and analytics — already built and running.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4360" y="3063240"/>
            <a:ext cx="3474720" cy="169164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3291840"/>
            <a:ext cx="502920" cy="502920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337413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3291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Cards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22960" y="39319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Apple .pkpass + Google Wallet JWT save-links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343400" y="3063240"/>
            <a:ext cx="3474720" cy="169164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72000" y="3291840"/>
            <a:ext cx="502920" cy="502920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3374136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12080" y="3291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572000" y="39319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balance and tier updates pushed to devices instantly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092440" y="3063240"/>
            <a:ext cx="3474720" cy="169164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321040" y="3291840"/>
            <a:ext cx="502920" cy="502920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3336" y="3374136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61120" y="3291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321040" y="39319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APNS for iOS, FCM for Android — promo + balance alerts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94360" y="4937760"/>
            <a:ext cx="3474720" cy="169164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22960" y="5166360"/>
            <a:ext cx="502920" cy="502920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5248656"/>
            <a:ext cx="338328" cy="33832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63040" y="5166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API for 1C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822960" y="58064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 with token auth, webhooks back to 1C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4343400" y="4937760"/>
            <a:ext cx="3474720" cy="169164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572000" y="5166360"/>
            <a:ext cx="502920" cy="502920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4296" y="5248656"/>
            <a:ext cx="338328" cy="33832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212080" y="5166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4572000" y="58064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credentials, tenant isolation, audit logs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8092440" y="4937760"/>
            <a:ext cx="3474720" cy="169164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8321040" y="5166360"/>
            <a:ext cx="502920" cy="502920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3336" y="5248656"/>
            <a:ext cx="338328" cy="33832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8961120" y="5166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8321040" y="58064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Customers, sales, cards, redemptions, retention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Integration Proposal • Walvero Loyalty → italdizan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029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Our Platform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reasons this proposal de-risks your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1417320" y="1554480"/>
            <a:ext cx="27432" cy="68580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153619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Built &amp; Production-tested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190195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greenfield risk. Apple Wallet, Google Wallet, POS sync, customer enrolment and webhooks are fully implemented in the LoyaltyApi codebase.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1417320" y="2514600"/>
            <a:ext cx="27432" cy="68580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00200" y="24963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Architecture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00200" y="286207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credentials, isolated data, separate Wallet credentials. Scales beyond your 4 stores without re-architecture.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38328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1417320" y="3474720"/>
            <a:ext cx="27432" cy="68580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00200" y="34564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Documented API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00200" y="382219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endpoints, Postman collections, OpenAPI/Swagger. Your 1C team can integrate in days, not weeks.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434340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000" dirty="0"/>
          </a:p>
        </p:txBody>
      </p:sp>
      <p:sp>
        <p:nvSpPr>
          <p:cNvPr id="18" name="Shape 16"/>
          <p:cNvSpPr/>
          <p:nvPr/>
        </p:nvSpPr>
        <p:spPr>
          <a:xfrm>
            <a:off x="1417320" y="4434840"/>
            <a:ext cx="27432" cy="68580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00200" y="44165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Bi-directional Sync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00200" y="478231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→ Wallet (balance updates) and Wallet → POS (redemptions, transactions). APNS + FCM under the hood.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530352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4000" dirty="0"/>
          </a:p>
        </p:txBody>
      </p:sp>
      <p:sp>
        <p:nvSpPr>
          <p:cNvPr id="22" name="Shape 20"/>
          <p:cNvSpPr/>
          <p:nvPr/>
        </p:nvSpPr>
        <p:spPr>
          <a:xfrm>
            <a:off x="1417320" y="5394960"/>
            <a:ext cx="27432" cy="68580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00200" y="537667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 First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00200" y="574243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sensitive data (cert keys, tokens), JWT signing, tenant-scoped tokens. NDA is standard practice.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Integration Proposal • Walvero Loyalty → italdizan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029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1C, our API and the wallets connect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2926080" cy="329184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828800"/>
            <a:ext cx="2926080" cy="41148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28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1C Source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2468880"/>
            <a:ext cx="640080" cy="64008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419856"/>
            <a:ext cx="164592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3383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master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712464"/>
            <a:ext cx="164592" cy="1645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3675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&amp; balances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005072"/>
            <a:ext cx="164592" cy="1645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51560" y="39684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Cashback rules</a:t>
            </a:r>
            <a:endParaRPr lang="en-US" sz="1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297680"/>
            <a:ext cx="164592" cy="16459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51560" y="42611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590288"/>
            <a:ext cx="164592" cy="16459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51560" y="45537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&amp; POS</a:t>
            </a:r>
            <a:endParaRPr lang="en-US" sz="1200" dirty="0"/>
          </a:p>
        </p:txBody>
      </p:sp>
      <p:sp>
        <p:nvSpPr>
          <p:cNvPr id="19" name="Shape 11"/>
          <p:cNvSpPr/>
          <p:nvPr/>
        </p:nvSpPr>
        <p:spPr>
          <a:xfrm>
            <a:off x="4069080" y="1828800"/>
            <a:ext cx="3657600" cy="329184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20" name="Shape 12"/>
          <p:cNvSpPr/>
          <p:nvPr/>
        </p:nvSpPr>
        <p:spPr>
          <a:xfrm>
            <a:off x="4069080" y="1828800"/>
            <a:ext cx="3657600" cy="41148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4160520" y="1828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Walvero API on Microsoft Azure</a:t>
            </a:r>
            <a:endParaRPr lang="en-US" sz="13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2120" y="2423160"/>
            <a:ext cx="731520" cy="731520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4297680" y="3383280"/>
            <a:ext cx="3200400" cy="502920"/>
          </a:xfrm>
          <a:prstGeom prst="rect">
            <a:avLst/>
          </a:prstGeom>
          <a:solidFill>
            <a:srgbClr val="1A2D5C"/>
          </a:solidFill>
          <a:ln w="6350">
            <a:solidFill>
              <a:srgbClr val="4F7CAC"/>
            </a:solidFill>
            <a:prstDash val="solid"/>
          </a:ln>
        </p:spPr>
      </p:sp>
      <p:sp>
        <p:nvSpPr>
          <p:cNvPr id="24" name="Text 15"/>
          <p:cNvSpPr/>
          <p:nvPr/>
        </p:nvSpPr>
        <p:spPr>
          <a:xfrm>
            <a:off x="4434840" y="34107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WebAPI Controllers</a:t>
            </a:r>
            <a:endParaRPr lang="en-US" sz="1100" dirty="0"/>
          </a:p>
        </p:txBody>
      </p:sp>
      <p:sp>
        <p:nvSpPr>
          <p:cNvPr id="25" name="Text 16"/>
          <p:cNvSpPr/>
          <p:nvPr/>
        </p:nvSpPr>
        <p:spPr>
          <a:xfrm>
            <a:off x="4434840" y="36393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 + webhooks</a:t>
            </a:r>
            <a:endParaRPr lang="en-US" sz="950" dirty="0"/>
          </a:p>
        </p:txBody>
      </p:sp>
      <p:sp>
        <p:nvSpPr>
          <p:cNvPr id="26" name="Shape 17"/>
          <p:cNvSpPr/>
          <p:nvPr/>
        </p:nvSpPr>
        <p:spPr>
          <a:xfrm>
            <a:off x="4297680" y="3950208"/>
            <a:ext cx="3200400" cy="502920"/>
          </a:xfrm>
          <a:prstGeom prst="rect">
            <a:avLst/>
          </a:prstGeom>
          <a:solidFill>
            <a:srgbClr val="1A2D5C"/>
          </a:solidFill>
          <a:ln w="6350">
            <a:solidFill>
              <a:srgbClr val="4F7CAC"/>
            </a:solidFill>
            <a:prstDash val="solid"/>
          </a:ln>
        </p:spPr>
      </p:sp>
      <p:sp>
        <p:nvSpPr>
          <p:cNvPr id="27" name="Text 18"/>
          <p:cNvSpPr/>
          <p:nvPr/>
        </p:nvSpPr>
        <p:spPr>
          <a:xfrm>
            <a:off x="4434840" y="3977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Services</a:t>
            </a:r>
            <a:endParaRPr lang="en-US" sz="1100" dirty="0"/>
          </a:p>
        </p:txBody>
      </p:sp>
      <p:sp>
        <p:nvSpPr>
          <p:cNvPr id="28" name="Text 19"/>
          <p:cNvSpPr/>
          <p:nvPr/>
        </p:nvSpPr>
        <p:spPr>
          <a:xfrm>
            <a:off x="4434840" y="42062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Apple/Google Wallet, POS sync, Push</a:t>
            </a:r>
            <a:endParaRPr lang="en-US" sz="950" dirty="0"/>
          </a:p>
        </p:txBody>
      </p:sp>
      <p:sp>
        <p:nvSpPr>
          <p:cNvPr id="29" name="Shape 20"/>
          <p:cNvSpPr/>
          <p:nvPr/>
        </p:nvSpPr>
        <p:spPr>
          <a:xfrm>
            <a:off x="4297680" y="4517136"/>
            <a:ext cx="3200400" cy="502920"/>
          </a:xfrm>
          <a:prstGeom prst="rect">
            <a:avLst/>
          </a:prstGeom>
          <a:solidFill>
            <a:srgbClr val="1A2D5C"/>
          </a:solidFill>
          <a:ln w="6350">
            <a:solidFill>
              <a:srgbClr val="4F7CAC"/>
            </a:solidFill>
            <a:prstDash val="solid"/>
          </a:ln>
        </p:spPr>
      </p:sp>
      <p:sp>
        <p:nvSpPr>
          <p:cNvPr id="30" name="Text 21"/>
          <p:cNvSpPr/>
          <p:nvPr/>
        </p:nvSpPr>
        <p:spPr>
          <a:xfrm>
            <a:off x="4434840" y="45445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(EF)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4434840" y="47731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DB, audit, repos</a:t>
            </a:r>
            <a:endParaRPr lang="en-US" sz="950" dirty="0"/>
          </a:p>
        </p:txBody>
      </p:sp>
      <p:sp>
        <p:nvSpPr>
          <p:cNvPr id="32" name="Shape 23"/>
          <p:cNvSpPr/>
          <p:nvPr/>
        </p:nvSpPr>
        <p:spPr>
          <a:xfrm>
            <a:off x="8275320" y="1828800"/>
            <a:ext cx="3657600" cy="329184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8275320" y="1828800"/>
            <a:ext cx="3657600" cy="41148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34" name="Text 25"/>
          <p:cNvSpPr/>
          <p:nvPr/>
        </p:nvSpPr>
        <p:spPr>
          <a:xfrm>
            <a:off x="8366760" y="1828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Devices</a:t>
            </a:r>
            <a:endParaRPr lang="en-US" sz="1300" dirty="0"/>
          </a:p>
        </p:txBody>
      </p:sp>
      <p:sp>
        <p:nvSpPr>
          <p:cNvPr id="35" name="Shape 26"/>
          <p:cNvSpPr/>
          <p:nvPr/>
        </p:nvSpPr>
        <p:spPr>
          <a:xfrm>
            <a:off x="8458200" y="2468880"/>
            <a:ext cx="3291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1080" y="2697480"/>
            <a:ext cx="594360" cy="59436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9326880" y="2697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Wallet</a:t>
            </a:r>
            <a:endParaRPr lang="en-US" sz="1300" dirty="0"/>
          </a:p>
        </p:txBody>
      </p:sp>
      <p:sp>
        <p:nvSpPr>
          <p:cNvPr id="38" name="Text 28"/>
          <p:cNvSpPr/>
          <p:nvPr/>
        </p:nvSpPr>
        <p:spPr>
          <a:xfrm>
            <a:off x="9326880" y="2971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.pkpass + APNS push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8458200" y="3611880"/>
            <a:ext cx="3291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41080" y="3840480"/>
            <a:ext cx="594360" cy="59436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9326880" y="3840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Wallet</a:t>
            </a:r>
            <a:endParaRPr lang="en-US" sz="1300" dirty="0"/>
          </a:p>
        </p:txBody>
      </p:sp>
      <p:sp>
        <p:nvSpPr>
          <p:cNvPr id="42" name="Text 31"/>
          <p:cNvSpPr/>
          <p:nvPr/>
        </p:nvSpPr>
        <p:spPr>
          <a:xfrm>
            <a:off x="9326880" y="4114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LoyaltyObject + FCM push</a:t>
            </a:r>
            <a:endParaRPr lang="en-US" sz="1000" dirty="0"/>
          </a:p>
        </p:txBody>
      </p:sp>
      <p:sp>
        <p:nvSpPr>
          <p:cNvPr id="43" name="Shape 32"/>
          <p:cNvSpPr/>
          <p:nvPr/>
        </p:nvSpPr>
        <p:spPr>
          <a:xfrm>
            <a:off x="3566160" y="3310128"/>
            <a:ext cx="457200" cy="329184"/>
          </a:xfrm>
          <a:prstGeom prst="rightArrow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44" name="Shape 33"/>
          <p:cNvSpPr/>
          <p:nvPr/>
        </p:nvSpPr>
        <p:spPr>
          <a:xfrm>
            <a:off x="7772400" y="3310128"/>
            <a:ext cx="457200" cy="329184"/>
          </a:xfrm>
          <a:prstGeom prst="rightArrow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3474720" y="3657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Webhooks</a:t>
            </a:r>
            <a:endParaRPr lang="en-US" sz="900" dirty="0"/>
          </a:p>
        </p:txBody>
      </p:sp>
      <p:sp>
        <p:nvSpPr>
          <p:cNvPr id="46" name="Text 35"/>
          <p:cNvSpPr/>
          <p:nvPr/>
        </p:nvSpPr>
        <p:spPr>
          <a:xfrm>
            <a:off x="7680960" y="3657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APNS / FCM</a:t>
            </a:r>
            <a:endParaRPr lang="en-US" sz="900" dirty="0"/>
          </a:p>
        </p:txBody>
      </p:sp>
      <p:sp>
        <p:nvSpPr>
          <p:cNvPr id="47" name="Shape 36"/>
          <p:cNvSpPr/>
          <p:nvPr/>
        </p:nvSpPr>
        <p:spPr>
          <a:xfrm>
            <a:off x="594360" y="5715000"/>
            <a:ext cx="10972800" cy="777240"/>
          </a:xfrm>
          <a:prstGeom prst="rect">
            <a:avLst/>
          </a:prstGeom>
          <a:solidFill>
            <a:srgbClr val="0F1A3C"/>
          </a:solidFill>
          <a:ln w="25400">
            <a:solidFill>
              <a:srgbClr val="F2C94C"/>
            </a:solidFill>
            <a:prstDash val="solid"/>
          </a:ln>
        </p:spPr>
      </p:sp>
      <p:sp>
        <p:nvSpPr>
          <p:cNvPr id="48" name="Shape 37"/>
          <p:cNvSpPr/>
          <p:nvPr/>
        </p:nvSpPr>
        <p:spPr>
          <a:xfrm>
            <a:off x="594360" y="5715000"/>
            <a:ext cx="109728" cy="77724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49" name="Shape 38"/>
          <p:cNvSpPr/>
          <p:nvPr/>
        </p:nvSpPr>
        <p:spPr>
          <a:xfrm>
            <a:off x="822960" y="5852160"/>
            <a:ext cx="502920" cy="5029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50" name="Text 39"/>
          <p:cNvSpPr/>
          <p:nvPr/>
        </p:nvSpPr>
        <p:spPr>
          <a:xfrm>
            <a:off x="822960" y="5852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M·A</a:t>
            </a:r>
            <a:endParaRPr lang="en-US" sz="1600" dirty="0"/>
          </a:p>
        </p:txBody>
      </p:sp>
      <p:sp>
        <p:nvSpPr>
          <p:cNvPr id="51" name="Text 40"/>
          <p:cNvSpPr/>
          <p:nvPr/>
        </p:nvSpPr>
        <p:spPr>
          <a:xfrm>
            <a:off x="1463040" y="57607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Stack + Azure Cloud</a:t>
            </a:r>
            <a:endParaRPr lang="en-US" sz="1600" dirty="0"/>
          </a:p>
        </p:txBody>
      </p:sp>
      <p:sp>
        <p:nvSpPr>
          <p:cNvPr id="52" name="Text 41"/>
          <p:cNvSpPr/>
          <p:nvPr/>
        </p:nvSpPr>
        <p:spPr>
          <a:xfrm>
            <a:off x="1463040" y="6080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Microsoft technologies — .NET 8, EF Core, SQL Server — and hosted on Microsoft Azure.</a:t>
            </a:r>
            <a:endParaRPr lang="en-US" sz="1100" dirty="0"/>
          </a:p>
        </p:txBody>
      </p:sp>
      <p:sp>
        <p:nvSpPr>
          <p:cNvPr id="53" name="Shape 4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54" name="Text 43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Integration Proposal • Walvero Loyalty → italdizan</a:t>
            </a:r>
            <a:endParaRPr lang="en-US" sz="900" dirty="0"/>
          </a:p>
        </p:txBody>
      </p:sp>
      <p:sp>
        <p:nvSpPr>
          <p:cNvPr id="55" name="Text 44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029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Wallet Integration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.pkpass passes — live example from our Mamajan deployment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508760"/>
            <a:ext cx="4572000" cy="475488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pic>
        <p:nvPicPr>
          <p:cNvPr id="6" name="Image 0" descr="/sessions/amazing-epic-lovelace/mnt/LoyaltyApi/apple-wallet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9069" y="1668780"/>
            <a:ext cx="2048342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6309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production — Mamajan loyalty card (Apple Wallet)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760720" y="1554480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60720" y="1828800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Server-signed, dynamically-updated passes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5760720" y="2423160"/>
            <a:ext cx="411480" cy="411480"/>
          </a:xfrm>
          <a:prstGeom prst="ellipse">
            <a:avLst/>
          </a:prstGeom>
          <a:solidFill>
            <a:srgbClr val="F8F9FB"/>
          </a:solidFill>
          <a:ln w="15240">
            <a:solidFill>
              <a:srgbClr val="F2C94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016" y="250545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09360" y="240487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Customisable design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309360" y="262432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colours, hero image, label fields — fully tailored to italdizan brand within Apple's layout guidelines.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760720" y="3063240"/>
            <a:ext cx="411480" cy="411480"/>
          </a:xfrm>
          <a:prstGeom prst="ellipse">
            <a:avLst/>
          </a:prstGeom>
          <a:solidFill>
            <a:srgbClr val="F8F9FB"/>
          </a:solidFill>
          <a:ln w="15240">
            <a:solidFill>
              <a:srgbClr val="F2C94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016" y="3145536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9360" y="304495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updates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309360" y="326440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Balance, cashback %, tier or status field updates push to device without re-install.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760720" y="3703320"/>
            <a:ext cx="411480" cy="411480"/>
          </a:xfrm>
          <a:prstGeom prst="ellipse">
            <a:avLst/>
          </a:prstGeom>
          <a:solidFill>
            <a:srgbClr val="F8F9FB"/>
          </a:solidFill>
          <a:ln w="15240">
            <a:solidFill>
              <a:srgbClr val="F2C94C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016" y="3785616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09360" y="368503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APNS push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309360" y="390448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pushes a silent notification → device pulls fresh pass automatically.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5760720" y="4343400"/>
            <a:ext cx="411480" cy="411480"/>
          </a:xfrm>
          <a:prstGeom prst="ellipse">
            <a:avLst/>
          </a:prstGeom>
          <a:solidFill>
            <a:srgbClr val="F8F9FB"/>
          </a:solidFill>
          <a:ln w="15240">
            <a:solidFill>
              <a:srgbClr val="F2C94C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3016" y="4425696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309360" y="432511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PKI signing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6309360" y="454456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type cert + WWDR + tenant key. Stored encrypted in our database.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5760720" y="4983480"/>
            <a:ext cx="411480" cy="411480"/>
          </a:xfrm>
          <a:prstGeom prst="ellipse">
            <a:avLst/>
          </a:prstGeom>
          <a:solidFill>
            <a:srgbClr val="F8F9FB"/>
          </a:solidFill>
          <a:ln w="15240">
            <a:solidFill>
              <a:srgbClr val="F2C94C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3016" y="5065776"/>
            <a:ext cx="256032" cy="25603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309360" y="496519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Add-to-Wallet link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6309360" y="518464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URL or QR. Works from SMS, email, or web.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5760720" y="5623560"/>
            <a:ext cx="411480" cy="411480"/>
          </a:xfrm>
          <a:prstGeom prst="ellipse">
            <a:avLst/>
          </a:prstGeom>
          <a:solidFill>
            <a:srgbClr val="F8F9FB"/>
          </a:solidFill>
          <a:ln w="15240">
            <a:solidFill>
              <a:srgbClr val="F2C94C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3016" y="5705856"/>
            <a:ext cx="256032" cy="25603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309360" y="560527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Per-customer pass</a:t>
            </a:r>
            <a:endParaRPr lang="en-US" sz="1300" dirty="0"/>
          </a:p>
        </p:txBody>
      </p:sp>
      <p:sp>
        <p:nvSpPr>
          <p:cNvPr id="33" name="Text 24"/>
          <p:cNvSpPr/>
          <p:nvPr/>
        </p:nvSpPr>
        <p:spPr>
          <a:xfrm>
            <a:off x="6309360" y="582472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serial number; mapped to customer, branch and programme.</a:t>
            </a:r>
            <a:endParaRPr lang="en-US" sz="1050" dirty="0"/>
          </a:p>
        </p:txBody>
      </p:sp>
      <p:sp>
        <p:nvSpPr>
          <p:cNvPr id="34" name="Shape 2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Integration Proposal • Walvero Loyalty → italdizan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029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Wallet Integration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LoyaltyClass + LoyaltyObject — live example from our Mamajan deployment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508760"/>
            <a:ext cx="4572000" cy="475488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pic>
        <p:nvPicPr>
          <p:cNvPr id="6" name="Image 0" descr="/sessions/amazing-epic-lovelace/mnt/LoyaltyApi/google-wallet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2629" y="1668780"/>
            <a:ext cx="2001222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6309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production — Mamajan loyalty card (Google Wallet)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760720" y="1554480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60720" y="1828800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LoyaltyObject API + JWT save-links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5760720" y="2423160"/>
            <a:ext cx="411480" cy="411480"/>
          </a:xfrm>
          <a:prstGeom prst="ellipse">
            <a:avLst/>
          </a:prstGeom>
          <a:solidFill>
            <a:srgbClr val="F8F9FB"/>
          </a:solidFill>
          <a:ln w="15240">
            <a:solidFill>
              <a:srgbClr val="F2C94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016" y="250545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09360" y="240487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Customisable design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309360" y="262432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hero, programme name, label colours — fully tailored to italdizan brand within Google's layout rules.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760720" y="3063240"/>
            <a:ext cx="411480" cy="411480"/>
          </a:xfrm>
          <a:prstGeom prst="ellipse">
            <a:avLst/>
          </a:prstGeom>
          <a:solidFill>
            <a:srgbClr val="F8F9FB"/>
          </a:solidFill>
          <a:ln w="15240">
            <a:solidFill>
              <a:srgbClr val="F2C94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016" y="3145536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9360" y="304495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LoyaltyObject updates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309360" y="326440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the object → all customer devices see new values in seconds.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760720" y="3703320"/>
            <a:ext cx="411480" cy="411480"/>
          </a:xfrm>
          <a:prstGeom prst="ellipse">
            <a:avLst/>
          </a:prstGeom>
          <a:solidFill>
            <a:srgbClr val="F8F9FB"/>
          </a:solidFill>
          <a:ln w="15240">
            <a:solidFill>
              <a:srgbClr val="F2C94C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016" y="3785616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09360" y="368503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 push (Android)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309360" y="390448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messages + balance updates via Firebase Cloud Messaging.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5760720" y="4343400"/>
            <a:ext cx="411480" cy="411480"/>
          </a:xfrm>
          <a:prstGeom prst="ellipse">
            <a:avLst/>
          </a:prstGeom>
          <a:solidFill>
            <a:srgbClr val="F8F9FB"/>
          </a:solidFill>
          <a:ln w="15240">
            <a:solidFill>
              <a:srgbClr val="F2C94C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3016" y="4425696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309360" y="432511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account auth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6309360" y="454456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service-account JSON per tenant; scoped issuer IDs.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5760720" y="4983480"/>
            <a:ext cx="411480" cy="411480"/>
          </a:xfrm>
          <a:prstGeom prst="ellipse">
            <a:avLst/>
          </a:prstGeom>
          <a:solidFill>
            <a:srgbClr val="F8F9FB"/>
          </a:solidFill>
          <a:ln w="15240">
            <a:solidFill>
              <a:srgbClr val="F2C94C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3016" y="5065776"/>
            <a:ext cx="256032" cy="25603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309360" y="496519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Save-to-Wallet JWT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6309360" y="518464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JWT generated per customer — drop-in link or button.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5760720" y="5623560"/>
            <a:ext cx="411480" cy="411480"/>
          </a:xfrm>
          <a:prstGeom prst="ellipse">
            <a:avLst/>
          </a:prstGeom>
          <a:solidFill>
            <a:srgbClr val="F8F9FB"/>
          </a:solidFill>
          <a:ln w="15240">
            <a:solidFill>
              <a:srgbClr val="F2C94C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3016" y="5705856"/>
            <a:ext cx="256032" cy="25603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309360" y="560527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Per-customer object</a:t>
            </a:r>
            <a:endParaRPr lang="en-US" sz="1300" dirty="0"/>
          </a:p>
        </p:txBody>
      </p:sp>
      <p:sp>
        <p:nvSpPr>
          <p:cNvPr id="33" name="Text 24"/>
          <p:cNvSpPr/>
          <p:nvPr/>
        </p:nvSpPr>
        <p:spPr>
          <a:xfrm>
            <a:off x="6309360" y="582472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objectId mapped to programme, customer and branch.</a:t>
            </a:r>
            <a:endParaRPr lang="en-US" sz="1050" dirty="0"/>
          </a:p>
        </p:txBody>
      </p:sp>
      <p:sp>
        <p:nvSpPr>
          <p:cNvPr id="34" name="Shape 2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Integration Proposal • Walvero Loyalty → italdizan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029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 &amp; Push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1C transaction to customer's lock-screen in seconds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08660" y="1828800"/>
            <a:ext cx="1965960" cy="219456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" y="1828800"/>
            <a:ext cx="1965960" cy="7315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1540" y="20116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2423160"/>
            <a:ext cx="640080" cy="640080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256032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0100" y="3154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 event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0100" y="3429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Purchase, top-up,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change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679192" y="2807208"/>
            <a:ext cx="219456" cy="237744"/>
          </a:xfrm>
          <a:prstGeom prst="rightArrow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03220" y="1828800"/>
            <a:ext cx="1965960" cy="219456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03220" y="1828800"/>
            <a:ext cx="1965960" cy="7315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86100" y="20116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566160" y="2423160"/>
            <a:ext cx="640080" cy="640080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256032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994660" y="3154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→ API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2994660" y="3429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call with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+ delta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873752" y="2807208"/>
            <a:ext cx="219456" cy="237744"/>
          </a:xfrm>
          <a:prstGeom prst="rightArrow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097780" y="1828800"/>
            <a:ext cx="1965960" cy="219456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097780" y="1828800"/>
            <a:ext cx="1965960" cy="7315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280660" y="20116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5760720" y="2423160"/>
            <a:ext cx="640080" cy="640080"/>
          </a:xfrm>
          <a:prstGeom prst="ellipse">
            <a:avLst/>
          </a:prstGeom>
          <a:solidFill>
            <a:srgbClr val="1A2D5C"/>
          </a:solidFill>
          <a:ln w="12700">
            <a:solidFill>
              <a:srgbClr val="F2C94C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560320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189220" y="3154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5189220" y="3429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rules,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persist, recalc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7068312" y="2807208"/>
            <a:ext cx="219456" cy="237744"/>
          </a:xfrm>
          <a:prstGeom prst="rightArrow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292340" y="1828800"/>
            <a:ext cx="1965960" cy="219456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292340" y="1828800"/>
            <a:ext cx="1965960" cy="7315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475220" y="20116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Shape 27"/>
          <p:cNvSpPr/>
          <p:nvPr/>
        </p:nvSpPr>
        <p:spPr>
          <a:xfrm>
            <a:off x="7955280" y="2423160"/>
            <a:ext cx="640080" cy="640080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2560320"/>
            <a:ext cx="365760" cy="36576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383780" y="3154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7383780" y="3429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APNS for iOS,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 for Android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9262872" y="2807208"/>
            <a:ext cx="219456" cy="237744"/>
          </a:xfrm>
          <a:prstGeom prst="rightArrow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9486900" y="1828800"/>
            <a:ext cx="1965960" cy="219456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9486900" y="1828800"/>
            <a:ext cx="1965960" cy="7315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9669780" y="20116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0" name="Shape 34"/>
          <p:cNvSpPr/>
          <p:nvPr/>
        </p:nvSpPr>
        <p:spPr>
          <a:xfrm>
            <a:off x="10149840" y="2423160"/>
            <a:ext cx="640080" cy="640080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2560320"/>
            <a:ext cx="365760" cy="36576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9578340" y="3154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pass</a:t>
            </a:r>
            <a:endParaRPr lang="en-US" sz="1300" dirty="0"/>
          </a:p>
        </p:txBody>
      </p:sp>
      <p:sp>
        <p:nvSpPr>
          <p:cNvPr id="43" name="Text 36"/>
          <p:cNvSpPr/>
          <p:nvPr/>
        </p:nvSpPr>
        <p:spPr>
          <a:xfrm>
            <a:off x="9578340" y="3429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refreshes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594360" y="4572000"/>
            <a:ext cx="3535680" cy="132588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846320"/>
            <a:ext cx="502920" cy="50292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1508760" y="4800600"/>
            <a:ext cx="252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latency</a:t>
            </a:r>
            <a:endParaRPr lang="en-US" sz="1300" dirty="0"/>
          </a:p>
        </p:txBody>
      </p:sp>
      <p:sp>
        <p:nvSpPr>
          <p:cNvPr id="47" name="Text 39"/>
          <p:cNvSpPr/>
          <p:nvPr/>
        </p:nvSpPr>
        <p:spPr>
          <a:xfrm>
            <a:off x="1508760" y="5120640"/>
            <a:ext cx="252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seconds end-to-end (POS → pass updated on device)</a:t>
            </a:r>
            <a:endParaRPr lang="en-US" sz="1100" dirty="0"/>
          </a:p>
        </p:txBody>
      </p:sp>
      <p:sp>
        <p:nvSpPr>
          <p:cNvPr id="48" name="Shape 40"/>
          <p:cNvSpPr/>
          <p:nvPr/>
        </p:nvSpPr>
        <p:spPr>
          <a:xfrm>
            <a:off x="4312920" y="4572000"/>
            <a:ext cx="3535680" cy="132588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7240" y="4846320"/>
            <a:ext cx="502920" cy="502920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5227320" y="4800600"/>
            <a:ext cx="252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types</a:t>
            </a:r>
            <a:endParaRPr lang="en-US" sz="1300" dirty="0"/>
          </a:p>
        </p:txBody>
      </p:sp>
      <p:sp>
        <p:nvSpPr>
          <p:cNvPr id="51" name="Text 42"/>
          <p:cNvSpPr/>
          <p:nvPr/>
        </p:nvSpPr>
        <p:spPr>
          <a:xfrm>
            <a:off x="5227320" y="5120640"/>
            <a:ext cx="252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update • Promo • Cashback earned • Reward unlocked</a:t>
            </a:r>
            <a:endParaRPr lang="en-US" sz="1100" dirty="0"/>
          </a:p>
        </p:txBody>
      </p:sp>
      <p:sp>
        <p:nvSpPr>
          <p:cNvPr id="52" name="Shape 43"/>
          <p:cNvSpPr/>
          <p:nvPr/>
        </p:nvSpPr>
        <p:spPr>
          <a:xfrm>
            <a:off x="8031480" y="4572000"/>
            <a:ext cx="3535680" cy="132588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5800" y="4846320"/>
            <a:ext cx="502920" cy="502920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8945880" y="4800600"/>
            <a:ext cx="252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300" dirty="0"/>
          </a:p>
        </p:txBody>
      </p:sp>
      <p:sp>
        <p:nvSpPr>
          <p:cNvPr id="55" name="Text 45"/>
          <p:cNvSpPr/>
          <p:nvPr/>
        </p:nvSpPr>
        <p:spPr>
          <a:xfrm>
            <a:off x="8945880" y="5120640"/>
            <a:ext cx="252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with exponential backoff, dead-letter, idempotency keys</a:t>
            </a:r>
            <a:endParaRPr lang="en-US" sz="1100" dirty="0"/>
          </a:p>
        </p:txBody>
      </p:sp>
      <p:sp>
        <p:nvSpPr>
          <p:cNvPr id="56" name="Shape 4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57" name="Text 47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Integration Proposal • Walvero Loyalty → italdizan</a:t>
            </a:r>
            <a:endParaRPr lang="en-US" sz="900" dirty="0"/>
          </a:p>
        </p:txBody>
      </p:sp>
      <p:sp>
        <p:nvSpPr>
          <p:cNvPr id="58" name="Text 48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029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 ↔ API Integration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expose, what we need, how it's secured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554480"/>
            <a:ext cx="5669280" cy="457200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54480"/>
            <a:ext cx="91440" cy="457200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37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WE EXPECT FROM 1C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name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9748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key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26280" y="21945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49240" y="21945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" y="2450592"/>
            <a:ext cx="5212080" cy="18288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514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697480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external_id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26280" y="2514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7C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49240" y="2514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" y="2816352"/>
            <a:ext cx="5394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8437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697480" y="28437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 (E.164)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26280" y="28437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7C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349240" y="2843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key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31729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697480" y="3172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full_name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26280" y="31729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7C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349240" y="31729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77240" y="3474720"/>
            <a:ext cx="5394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35021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Cashback %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697480" y="3502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cashback_percent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26280" y="35021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7C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349240" y="35021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68680" y="38313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%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697480" y="38313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discount_percent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26280" y="38313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7C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349240" y="38313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77240" y="4133088"/>
            <a:ext cx="5394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4160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69748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balance_amount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26280" y="4160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7C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349240" y="4160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68680" y="44897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/ status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2697480" y="4489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26280" y="44897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7C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349240" y="44897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77240" y="4791456"/>
            <a:ext cx="5394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8680" y="48188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/ store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697480" y="4818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branch_code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526280" y="48188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7C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349240" y="4818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68680" y="5148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event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2697480" y="5148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 { id, amount, type }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526280" y="51480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7C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349240" y="5148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4652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API ENDPOINTS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446520" y="2103120"/>
            <a:ext cx="5120640" cy="548640"/>
          </a:xfrm>
          <a:prstGeom prst="rect">
            <a:avLst/>
          </a:prstGeom>
          <a:solidFill>
            <a:srgbClr val="F8F9FB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583680" y="2221992"/>
            <a:ext cx="502920" cy="310896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83680" y="222199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178040" y="21488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/api/wallet/collect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7178040" y="2395728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enrols — phone, OTP, profile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446520" y="2706624"/>
            <a:ext cx="5120640" cy="548640"/>
          </a:xfrm>
          <a:prstGeom prst="rect">
            <a:avLst/>
          </a:prstGeom>
          <a:solidFill>
            <a:srgbClr val="F8F9FB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583680" y="2825496"/>
            <a:ext cx="502920" cy="310896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83680" y="282549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178040" y="275234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/api/wallet/get_wallet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7178040" y="299923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wallet balance + status from 1C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446520" y="3310128"/>
            <a:ext cx="5120640" cy="548640"/>
          </a:xfrm>
          <a:prstGeom prst="rect">
            <a:avLst/>
          </a:prstGeom>
          <a:solidFill>
            <a:srgbClr val="F8F9FB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583680" y="3429000"/>
            <a:ext cx="502920" cy="310896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83680" y="34290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178040" y="335584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/api/wallet/set_redeem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7178040" y="3602736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redemption / earn event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446520" y="3913632"/>
            <a:ext cx="5120640" cy="548640"/>
          </a:xfrm>
          <a:prstGeom prst="rect">
            <a:avLst/>
          </a:prstGeom>
          <a:solidFill>
            <a:srgbClr val="F8F9FB"/>
          </a:solidFill>
          <a:ln w="9525">
            <a:solidFill>
              <a:srgbClr val="E4E9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583680" y="4032504"/>
            <a:ext cx="502920" cy="310896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583680" y="40325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7178040" y="395935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/api/wallet/set_verify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7178040" y="4206240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OTP for redemption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46520" y="4654296"/>
            <a:ext cx="5120640" cy="77724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7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4837176"/>
            <a:ext cx="365760" cy="365760"/>
          </a:xfrm>
          <a:prstGeom prst="rect">
            <a:avLst/>
          </a:prstGeom>
        </p:spPr>
      </p:pic>
      <p:sp>
        <p:nvSpPr>
          <p:cNvPr id="76" name="Text 73"/>
          <p:cNvSpPr/>
          <p:nvPr/>
        </p:nvSpPr>
        <p:spPr>
          <a:xfrm>
            <a:off x="7132320" y="470001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tenant-scoped Bearer tokens</a:t>
            </a:r>
            <a:endParaRPr lang="en-US" sz="1200" dirty="0"/>
          </a:p>
        </p:txBody>
      </p:sp>
      <p:sp>
        <p:nvSpPr>
          <p:cNvPr id="77" name="Text 74"/>
          <p:cNvSpPr/>
          <p:nvPr/>
        </p:nvSpPr>
        <p:spPr>
          <a:xfrm>
            <a:off x="7132320" y="497433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webhook signatures + IP allowlist + TLS 1.2+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Integration Proposal • Walvero Loyalty → italdizan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029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Business Flows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customer registration, earning and redemption work in practice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3474720" cy="484632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08760"/>
            <a:ext cx="3474720" cy="13716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Registration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8680" y="2834640"/>
            <a:ext cx="548640" cy="2743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971800"/>
            <a:ext cx="310896" cy="310896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90779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fills the form on the Walvero app or web.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68680" y="3630168"/>
            <a:ext cx="310896" cy="310896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630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35661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OTP is sent to the phone number — verifies ownership.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4288536"/>
            <a:ext cx="310896" cy="310896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288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422452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valid OTP, customer is added to Walvero.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" y="4946904"/>
            <a:ext cx="310896" cy="310896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946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4882896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Walvero checks italdizan 1C by phone number.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68680" y="5605272"/>
            <a:ext cx="310896" cy="310896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5605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80160" y="5541264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found → pull ID + balance, push to Wallet card.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 → call italdizan's add-customer endpoint to create them there.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43400" y="1508760"/>
            <a:ext cx="3474720" cy="4846320"/>
          </a:xfrm>
          <a:prstGeom prst="rect">
            <a:avLst/>
          </a:prstGeom>
          <a:solidFill>
            <a:srgbClr val="0F1A3C"/>
          </a:solidFill>
          <a:ln w="25400">
            <a:solidFill>
              <a:srgbClr val="F2C94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43400" y="1508760"/>
            <a:ext cx="3474720" cy="13716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4617720" y="2286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 a Bonus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617720" y="2834640"/>
            <a:ext cx="548640" cy="2743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7720" y="2971800"/>
            <a:ext cx="310896" cy="310896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0" y="290779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makes a purchase at an italdizan store.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3630168"/>
            <a:ext cx="310896" cy="310896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3630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0" y="35661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 sends to Walvero: customer ID + purchase amount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 the calculated bonus amount).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17720" y="4288536"/>
            <a:ext cx="310896" cy="310896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4288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29200" y="422452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Walvero applies the rule, updates the balance in the database.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17720" y="4946904"/>
            <a:ext cx="310896" cy="310896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17720" y="4946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29200" y="4882896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card is updated — Apple + Google in real-time.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17720" y="5605272"/>
            <a:ext cx="310896" cy="310896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17720" y="5605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29200" y="5541264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 is sent: “Bonus earned — new balance is X”.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092440" y="1508760"/>
            <a:ext cx="3474720" cy="484632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092440" y="1508760"/>
            <a:ext cx="3474720" cy="137160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6676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48" name="Text 46"/>
          <p:cNvSpPr/>
          <p:nvPr/>
        </p:nvSpPr>
        <p:spPr>
          <a:xfrm>
            <a:off x="8366760" y="2286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a Bonus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8366760" y="2834640"/>
            <a:ext cx="548640" cy="2743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366760" y="2971800"/>
            <a:ext cx="310896" cy="310896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66760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778240" y="290779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asks to spend X AZN → SMS with OTP sent to their phone.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366760" y="3630168"/>
            <a:ext cx="310896" cy="310896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66760" y="3630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778240" y="35661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 enters the OTP code into 1C → 1C calls Walvero.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366760" y="4288536"/>
            <a:ext cx="310896" cy="310896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366760" y="4288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8778240" y="422452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Walvero verifies the OTP.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366760" y="4946904"/>
            <a:ext cx="310896" cy="310896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366760" y="4946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8778240" y="4882896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valid → balance is deducted; success status returned to 1C.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366760" y="5605272"/>
            <a:ext cx="310896" cy="310896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366760" y="5605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8778240" y="5541264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 sent to the customer.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OTP is wrong → error message returned to 1C.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Integration Proposal • Walvero Loyalty → italdizan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029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Flow Diagram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 — Customer ↔ Walvero ↔ 1С/italdizan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1521440" cy="585216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sessions/amazing-epic-lovelace/mnt/LoyaltyApi/business_flows_landsca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25880"/>
            <a:ext cx="11338560" cy="5669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Integration Proposal • Walvero Loyalty → italdizan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029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Card Design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UX/UI best practices we apply per platform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554480"/>
            <a:ext cx="5303520" cy="457200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54480"/>
            <a:ext cx="5303520" cy="82296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373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6916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Wallet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63040" y="19933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Tightly constrained layout — every label matters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14400" y="2715768"/>
            <a:ext cx="109728" cy="109728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" y="2606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fields max: header, primary, secondary, auxiliary, back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14400" y="3218688"/>
            <a:ext cx="109728" cy="109728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4300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+ strip image + background tint colour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14400" y="3721608"/>
            <a:ext cx="109728" cy="109728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43000" y="3611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at the bottom (PDF417 or QR)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14400" y="4224528"/>
            <a:ext cx="109728" cy="109728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43000" y="4114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 / label / background colours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14400" y="4727448"/>
            <a:ext cx="109728" cy="109728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43000" y="4617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Tap-back fields for terms, support, policy links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14400" y="5230368"/>
            <a:ext cx="109728" cy="109728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43000" y="5120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Auto-relevancy: locations, beacons (optional)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63640" y="1554480"/>
            <a:ext cx="5303520" cy="457200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63640" y="1554480"/>
            <a:ext cx="5303520" cy="82296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737360"/>
            <a:ext cx="457200" cy="4572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132320" y="16916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Wallet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7132320" y="19933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flexible — programme + object hierarchy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583680" y="2715768"/>
            <a:ext cx="109728" cy="109728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812280" y="2606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image, logo, programme name visible always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6583680" y="3218688"/>
            <a:ext cx="109728" cy="109728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81228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'text modules' for additional content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6583680" y="3721608"/>
            <a:ext cx="109728" cy="109728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812280" y="3611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offers / rewards block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6583680" y="4224528"/>
            <a:ext cx="109728" cy="109728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812280" y="4114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number + tier shown side-by-side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6583680" y="4727448"/>
            <a:ext cx="109728" cy="109728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812280" y="4617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notification messages (image + CTA)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6583680" y="5230368"/>
            <a:ext cx="109728" cy="109728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812280" y="5120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languages via localized fields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594360" y="6080760"/>
            <a:ext cx="10972800" cy="41148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144768"/>
            <a:ext cx="292608" cy="292608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1188720" y="60807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We ship a tenant-branded design system — colours, logo, hero, fonts — configurable from the admin panel.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Integration Proposal • Walvero Loyalty → italdizan</a:t>
            </a:r>
            <a:endParaRPr lang="en-US" sz="900" dirty="0"/>
          </a:p>
        </p:txBody>
      </p:sp>
      <p:sp>
        <p:nvSpPr>
          <p:cNvPr id="44" name="Text 39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029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protection — at rest, in transit, and in process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554480"/>
            <a:ext cx="3474720" cy="219456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54480"/>
            <a:ext cx="54864" cy="219456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828800"/>
            <a:ext cx="640080" cy="64008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947672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1828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database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2606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italdizan data — customer records, balances, credentials — is stored in the database in encrypted form, not plaintext.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43400" y="1554480"/>
            <a:ext cx="3474720" cy="219456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43400" y="1554480"/>
            <a:ext cx="54864" cy="219456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17720" y="1828800"/>
            <a:ext cx="640080" cy="64008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1947672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94960" y="1828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in transit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617720" y="2606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only. TLS 1.2+, HSTS, modern ciphers. No plaintext customer data ever leaves the API.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092440" y="1554480"/>
            <a:ext cx="3474720" cy="219456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092440" y="1554480"/>
            <a:ext cx="54864" cy="219456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366760" y="1828800"/>
            <a:ext cx="640080" cy="64008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1947672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144000" y="1828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isolation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8366760" y="2606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italdizan's data is fully isolated — separate credentials, integration rows and audit logs. No cross-tenant access possible.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94360" y="3931920"/>
            <a:ext cx="3474720" cy="219456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94360" y="3931920"/>
            <a:ext cx="54864" cy="219456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68680" y="4206240"/>
            <a:ext cx="640080" cy="64008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325112"/>
            <a:ext cx="402336" cy="40233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645920" y="4206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access control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868680" y="4983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Tenant-scoped Bearer tokens, role-based admin, IP allowlists for inbound webhooks from 1C.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4343400" y="3931920"/>
            <a:ext cx="3474720" cy="219456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343400" y="3931920"/>
            <a:ext cx="54864" cy="219456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617720" y="4206240"/>
            <a:ext cx="640080" cy="64008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4325112"/>
            <a:ext cx="402336" cy="40233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394960" y="4206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 &amp; logging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4617720" y="4983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wallet event, push and 1C call is logged with correlation IDs and retained for review.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8092440" y="3931920"/>
            <a:ext cx="3474720" cy="219456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8092440" y="3931920"/>
            <a:ext cx="54864" cy="219456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8366760" y="4206240"/>
            <a:ext cx="640080" cy="64008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632" y="4325112"/>
            <a:ext cx="402336" cy="402336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144000" y="4206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ready</a:t>
            </a:r>
            <a:endParaRPr lang="en-US" sz="1400" dirty="0"/>
          </a:p>
        </p:txBody>
      </p:sp>
      <p:sp>
        <p:nvSpPr>
          <p:cNvPr id="40" name="Text 32"/>
          <p:cNvSpPr/>
          <p:nvPr/>
        </p:nvSpPr>
        <p:spPr>
          <a:xfrm>
            <a:off x="8366760" y="4983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ready to sign an NDA on day 1 — no objections. GDPR-friendly retention; right-to-delete supported by design.</a:t>
            </a:r>
            <a:endParaRPr lang="en-US" sz="1100" dirty="0"/>
          </a:p>
        </p:txBody>
      </p:sp>
      <p:sp>
        <p:nvSpPr>
          <p:cNvPr id="41" name="Shape 3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Integration Proposal • Walvero Loyalty → italdizan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029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 — extra visuals added per italdizan's request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10698480" cy="5434525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sessions/amazing-epic-lovelace/mnt/LoyaltyApi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10515600" cy="525164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Integration Proposal • Walvero Loyalty → italdizan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029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Phases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roadmap — 4 weeks to live, then 2-month free trial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36576" cy="374904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" y="1874520"/>
            <a:ext cx="274320" cy="274320"/>
          </a:xfrm>
          <a:prstGeom prst="ellipse">
            <a:avLst/>
          </a:prstGeom>
          <a:solidFill>
            <a:srgbClr val="0F1A3C"/>
          </a:solidFill>
          <a:ln w="19050">
            <a:solidFill>
              <a:srgbClr val="F2C9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80160" y="1783080"/>
            <a:ext cx="10241280" cy="84582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80160" y="1783080"/>
            <a:ext cx="1280160" cy="84582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1783080"/>
            <a:ext cx="128016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18745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Finalisation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219456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+ contract signing, requirements workshop, 1C field mapping, Apple/Google credentials. Output: SRS document.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5528" y="2811780"/>
            <a:ext cx="274320" cy="274320"/>
          </a:xfrm>
          <a:prstGeom prst="ellipse">
            <a:avLst/>
          </a:prstGeom>
          <a:solidFill>
            <a:srgbClr val="0F1A3C"/>
          </a:solidFill>
          <a:ln w="19050">
            <a:solidFill>
              <a:srgbClr val="F2C9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8117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280160" y="2720340"/>
            <a:ext cx="10241280" cy="84582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80160" y="2720340"/>
            <a:ext cx="1280160" cy="84582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2720340"/>
            <a:ext cx="128016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43200" y="28117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Trial Approval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0" y="313182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card design per platform (Apple + Google), push templates, trial version review and sign-off.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95528" y="3749040"/>
            <a:ext cx="274320" cy="274320"/>
          </a:xfrm>
          <a:prstGeom prst="ellipse">
            <a:avLst/>
          </a:prstGeom>
          <a:solidFill>
            <a:srgbClr val="0F1A3C"/>
          </a:solidFill>
          <a:ln w="19050">
            <a:solidFill>
              <a:srgbClr val="F2C9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280160" y="3657600"/>
            <a:ext cx="10241280" cy="84582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80160" y="3657600"/>
            <a:ext cx="1280160" cy="84582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80160" y="3657600"/>
            <a:ext cx="128016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3-4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43200" y="37490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Delivery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743200" y="40690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1C, push notifications setup, end-to-end testing, training, production cut-over for all 4 stores.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95528" y="4686300"/>
            <a:ext cx="274320" cy="274320"/>
          </a:xfrm>
          <a:prstGeom prst="ellipse">
            <a:avLst/>
          </a:prstGeom>
          <a:solidFill>
            <a:srgbClr val="0F1A3C"/>
          </a:solidFill>
          <a:ln w="19050">
            <a:solidFill>
              <a:srgbClr val="F2C9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" y="46863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280160" y="4594860"/>
            <a:ext cx="10241280" cy="84582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80160" y="4594860"/>
            <a:ext cx="1280160" cy="84582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80160" y="4594860"/>
            <a:ext cx="128016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1-2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743200" y="46863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Trial Period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743200" y="500634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production with full features at no charge. Pay only after the 2-month trial — risk-free for italdizan.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Integration Proposal • Walvero Loyalty → italdizan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5029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Estimate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— confirmed after the discovery workshop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3474720" cy="461772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08760"/>
            <a:ext cx="3474720" cy="13716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7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68680" y="2606040"/>
            <a:ext cx="548640" cy="36576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697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68680" y="3200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deployment is on us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657600"/>
            <a:ext cx="201168" cy="20116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43000" y="3611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technical SRS</a:t>
            </a:r>
            <a:endParaRPr lang="en-US" sz="11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968496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43000" y="39227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&amp; Google credentials setup</a:t>
            </a:r>
            <a:endParaRPr lang="en-US" sz="11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279392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43000" y="42336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 ↔ API integration</a:t>
            </a:r>
            <a:endParaRPr lang="en-US" sz="11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590288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45445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card design (Apple + Google)</a:t>
            </a:r>
            <a:endParaRPr lang="en-US" sz="11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901184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43000" y="48554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 &amp; UAT</a:t>
            </a:r>
            <a:endParaRPr lang="en-US" sz="11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212080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143000" y="5166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cut-over &amp; training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4343400" y="1508760"/>
            <a:ext cx="3474720" cy="4617720"/>
          </a:xfrm>
          <a:prstGeom prst="rect">
            <a:avLst/>
          </a:prstGeom>
          <a:solidFill>
            <a:srgbClr val="0F1A3C"/>
          </a:solidFill>
          <a:ln w="25400">
            <a:solidFill>
              <a:srgbClr val="F2C94C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4343400" y="1508760"/>
            <a:ext cx="3474720" cy="13716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4617720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POINT OF SALE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461772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2400" dirty="0"/>
          </a:p>
        </p:txBody>
      </p:sp>
      <p:sp>
        <p:nvSpPr>
          <p:cNvPr id="28" name="Shape 20"/>
          <p:cNvSpPr/>
          <p:nvPr/>
        </p:nvSpPr>
        <p:spPr>
          <a:xfrm>
            <a:off x="4617720" y="2606040"/>
            <a:ext cx="548640" cy="36576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4617720" y="2697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AZN</a:t>
            </a:r>
            <a:endParaRPr lang="en-US" sz="2600" dirty="0"/>
          </a:p>
        </p:txBody>
      </p:sp>
      <p:sp>
        <p:nvSpPr>
          <p:cNvPr id="30" name="Text 22"/>
          <p:cNvSpPr/>
          <p:nvPr/>
        </p:nvSpPr>
        <p:spPr>
          <a:xfrm>
            <a:off x="4617720" y="3200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active store / POS</a:t>
            </a:r>
            <a:endParaRPr lang="en-US" sz="10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3657600"/>
            <a:ext cx="201168" cy="20116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4892040" y="3611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Walvero platform</a:t>
            </a:r>
            <a:endParaRPr lang="en-US" sz="110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7720" y="3968496"/>
            <a:ext cx="201168" cy="20116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4892040" y="39227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+ Google Wallet pushes</a:t>
            </a:r>
            <a:endParaRPr lang="en-US" sz="110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7720" y="4279392"/>
            <a:ext cx="201168" cy="201168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4892040" y="42336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1C ↔ API sync</a:t>
            </a:r>
            <a:endParaRPr lang="en-US" sz="1100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7720" y="4590288"/>
            <a:ext cx="201168" cy="201168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4892040" y="45445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 included</a:t>
            </a:r>
            <a:endParaRPr lang="en-US" sz="1100" dirty="0"/>
          </a:p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17720" y="4901184"/>
            <a:ext cx="201168" cy="201168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4892040" y="48554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support (business hours)</a:t>
            </a:r>
            <a:endParaRPr lang="en-US" sz="1100" dirty="0"/>
          </a:p>
        </p:txBody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17720" y="5212080"/>
            <a:ext cx="201168" cy="201168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4892040" y="5166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Storage, backups, monitoring</a:t>
            </a:r>
            <a:endParaRPr lang="en-US" sz="1100" dirty="0"/>
          </a:p>
        </p:txBody>
      </p:sp>
      <p:sp>
        <p:nvSpPr>
          <p:cNvPr id="43" name="Shape 29"/>
          <p:cNvSpPr/>
          <p:nvPr/>
        </p:nvSpPr>
        <p:spPr>
          <a:xfrm>
            <a:off x="8092440" y="1508760"/>
            <a:ext cx="3474720" cy="4617720"/>
          </a:xfrm>
          <a:prstGeom prst="rect">
            <a:avLst/>
          </a:prstGeom>
          <a:solidFill>
            <a:srgbClr val="F8F9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44" name="Shape 30"/>
          <p:cNvSpPr/>
          <p:nvPr/>
        </p:nvSpPr>
        <p:spPr>
          <a:xfrm>
            <a:off x="8092440" y="1508760"/>
            <a:ext cx="3474720" cy="137160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45" name="Text 31"/>
          <p:cNvSpPr/>
          <p:nvPr/>
        </p:nvSpPr>
        <p:spPr>
          <a:xfrm>
            <a:off x="8366760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7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RISK-FREE PILOT</a:t>
            </a:r>
            <a:endParaRPr lang="en-US" sz="1100" dirty="0"/>
          </a:p>
        </p:txBody>
      </p:sp>
      <p:sp>
        <p:nvSpPr>
          <p:cNvPr id="46" name="Text 32"/>
          <p:cNvSpPr/>
          <p:nvPr/>
        </p:nvSpPr>
        <p:spPr>
          <a:xfrm>
            <a:off x="836676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2-Month Trial</a:t>
            </a:r>
            <a:endParaRPr lang="en-US" sz="2400" dirty="0"/>
          </a:p>
        </p:txBody>
      </p:sp>
      <p:sp>
        <p:nvSpPr>
          <p:cNvPr id="47" name="Shape 33"/>
          <p:cNvSpPr/>
          <p:nvPr/>
        </p:nvSpPr>
        <p:spPr>
          <a:xfrm>
            <a:off x="8366760" y="2606040"/>
            <a:ext cx="548640" cy="36576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48" name="Text 34"/>
          <p:cNvSpPr/>
          <p:nvPr/>
        </p:nvSpPr>
        <p:spPr>
          <a:xfrm>
            <a:off x="8366760" y="2697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2600" dirty="0"/>
          </a:p>
        </p:txBody>
      </p:sp>
      <p:sp>
        <p:nvSpPr>
          <p:cNvPr id="49" name="Text 35"/>
          <p:cNvSpPr/>
          <p:nvPr/>
        </p:nvSpPr>
        <p:spPr>
          <a:xfrm>
            <a:off x="8366760" y="3200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2 months — no payment</a:t>
            </a:r>
            <a:endParaRPr lang="en-US" sz="1000" dirty="0"/>
          </a:p>
        </p:txBody>
      </p:sp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66760" y="3657600"/>
            <a:ext cx="201168" cy="201168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8641080" y="3611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 — all features</a:t>
            </a:r>
            <a:endParaRPr lang="en-US" sz="1100" dirty="0"/>
          </a:p>
        </p:txBody>
      </p:sp>
      <p:pic>
        <p:nvPicPr>
          <p:cNvPr id="5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66760" y="3968496"/>
            <a:ext cx="201168" cy="201168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8641080" y="39227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production data</a:t>
            </a:r>
            <a:endParaRPr lang="en-US" sz="1100" dirty="0"/>
          </a:p>
        </p:txBody>
      </p:sp>
      <p:pic>
        <p:nvPicPr>
          <p:cNvPr id="5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66760" y="4279392"/>
            <a:ext cx="201168" cy="201168"/>
          </a:xfrm>
          <a:prstGeom prst="rect">
            <a:avLst/>
          </a:prstGeom>
        </p:spPr>
      </p:pic>
      <p:sp>
        <p:nvSpPr>
          <p:cNvPr id="55" name="Text 38"/>
          <p:cNvSpPr/>
          <p:nvPr/>
        </p:nvSpPr>
        <p:spPr>
          <a:xfrm>
            <a:off x="8641080" y="42336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enabled</a:t>
            </a:r>
            <a:endParaRPr lang="en-US" sz="1100" dirty="0"/>
          </a:p>
        </p:txBody>
      </p:sp>
      <p:pic>
        <p:nvPicPr>
          <p:cNvPr id="5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66760" y="4590288"/>
            <a:ext cx="201168" cy="201168"/>
          </a:xfrm>
          <a:prstGeom prst="rect">
            <a:avLst/>
          </a:prstGeom>
        </p:spPr>
      </p:pic>
      <p:sp>
        <p:nvSpPr>
          <p:cNvPr id="57" name="Text 39"/>
          <p:cNvSpPr/>
          <p:nvPr/>
        </p:nvSpPr>
        <p:spPr>
          <a:xfrm>
            <a:off x="8641080" y="45445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analytics dashboard</a:t>
            </a:r>
            <a:endParaRPr lang="en-US" sz="1100" dirty="0"/>
          </a:p>
        </p:txBody>
      </p:sp>
      <p:pic>
        <p:nvPicPr>
          <p:cNvPr id="5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66760" y="4901184"/>
            <a:ext cx="201168" cy="201168"/>
          </a:xfrm>
          <a:prstGeom prst="rect">
            <a:avLst/>
          </a:prstGeom>
        </p:spPr>
      </p:pic>
      <p:sp>
        <p:nvSpPr>
          <p:cNvPr id="59" name="Text 40"/>
          <p:cNvSpPr/>
          <p:nvPr/>
        </p:nvSpPr>
        <p:spPr>
          <a:xfrm>
            <a:off x="8641080" y="48554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commitment until satisfied</a:t>
            </a:r>
            <a:endParaRPr lang="en-US" sz="1100" dirty="0"/>
          </a:p>
        </p:txBody>
      </p:sp>
      <p:pic>
        <p:nvPicPr>
          <p:cNvPr id="6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66760" y="5212080"/>
            <a:ext cx="201168" cy="201168"/>
          </a:xfrm>
          <a:prstGeom prst="rect">
            <a:avLst/>
          </a:prstGeom>
        </p:spPr>
      </p:pic>
      <p:sp>
        <p:nvSpPr>
          <p:cNvPr id="61" name="Text 41"/>
          <p:cNvSpPr/>
          <p:nvPr/>
        </p:nvSpPr>
        <p:spPr>
          <a:xfrm>
            <a:off x="8641080" y="5166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only after the trial period</a:t>
            </a:r>
            <a:endParaRPr lang="en-US" sz="1100" dirty="0"/>
          </a:p>
        </p:txBody>
      </p:sp>
      <p:sp>
        <p:nvSpPr>
          <p:cNvPr id="62" name="Text 42"/>
          <p:cNvSpPr/>
          <p:nvPr/>
        </p:nvSpPr>
        <p:spPr>
          <a:xfrm>
            <a:off x="594360" y="6217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for italdizan (4 stores):  4 × 250 AZN = 1,000 AZN / month, starting after the 2-month free trial.  Apple/Google developer-account fees are on the client.</a:t>
            </a:r>
            <a:endParaRPr lang="en-US" sz="950" dirty="0"/>
          </a:p>
        </p:txBody>
      </p:sp>
      <p:sp>
        <p:nvSpPr>
          <p:cNvPr id="63" name="Shape 4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64" name="Text 44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Integration Proposal • Walvero Loyalty → italdizan</a:t>
            </a:r>
            <a:endParaRPr lang="en-US" sz="900" dirty="0"/>
          </a:p>
        </p:txBody>
      </p:sp>
      <p:sp>
        <p:nvSpPr>
          <p:cNvPr id="65" name="Text 45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1A2D5C">
              <a:alpha val="50000"/>
            </a:srgbClr>
          </a:solidFill>
          <a:ln w="12700">
            <a:solidFill>
              <a:srgbClr val="1A2D5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-1828800"/>
            <a:ext cx="5486400" cy="5486400"/>
          </a:xfrm>
          <a:prstGeom prst="ellipse">
            <a:avLst/>
          </a:prstGeom>
          <a:solidFill>
            <a:srgbClr val="4F7CAC">
              <a:alpha val="30000"/>
            </a:srgbClr>
          </a:solidFill>
          <a:ln w="12700">
            <a:solidFill>
              <a:srgbClr val="4F7CA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2801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launch your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loyalty cards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777240" y="3200400"/>
            <a:ext cx="3352800" cy="1828800"/>
          </a:xfrm>
          <a:prstGeom prst="rect">
            <a:avLst/>
          </a:prstGeom>
          <a:solidFill>
            <a:srgbClr val="1A2D5C"/>
          </a:solidFill>
          <a:ln w="6350">
            <a:solidFill>
              <a:srgbClr val="4F7C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200400"/>
            <a:ext cx="73152" cy="182880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383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3794760"/>
            <a:ext cx="289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NDA &amp; contract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4206240"/>
            <a:ext cx="289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NDA-ready — no objections. Contract ready within 48 hours.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04360" y="3200400"/>
            <a:ext cx="3352800" cy="1828800"/>
          </a:xfrm>
          <a:prstGeom prst="rect">
            <a:avLst/>
          </a:prstGeom>
          <a:solidFill>
            <a:srgbClr val="1A2D5C"/>
          </a:solidFill>
          <a:ln w="6350">
            <a:solidFill>
              <a:srgbClr val="4F7CA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04360" y="3200400"/>
            <a:ext cx="73152" cy="182880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78680" y="3383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78680" y="3794760"/>
            <a:ext cx="289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setup begins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78680" y="4206240"/>
            <a:ext cx="289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deploy at no cost. Week 1: technical finalisation. Week 2: design approval.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31480" y="3200400"/>
            <a:ext cx="3352800" cy="1828800"/>
          </a:xfrm>
          <a:prstGeom prst="rect">
            <a:avLst/>
          </a:prstGeom>
          <a:solidFill>
            <a:srgbClr val="1A2D5C"/>
          </a:solidFill>
          <a:ln w="6350">
            <a:solidFill>
              <a:srgbClr val="4F7CA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31480" y="3200400"/>
            <a:ext cx="73152" cy="182880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5800" y="3383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05800" y="3794760"/>
            <a:ext cx="289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 + 2-month trial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05800" y="4206240"/>
            <a:ext cx="289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3-4: full rollout. Then 2 months free use before paying anything.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start?  •  info@walvero.com  •  Walvero Loyalty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Apple Wallet &amp; Google Wallet Integration Proposal</dc:title>
  <dc:subject>PptxGenJS Presentation</dc:subject>
  <dc:creator>Walvero Loyalty</dc:creator>
  <cp:lastModifiedBy>Walvero Loyalty</cp:lastModifiedBy>
  <cp:revision>1</cp:revision>
  <dcterms:created xsi:type="dcterms:W3CDTF">2026-05-14T13:15:24Z</dcterms:created>
  <dcterms:modified xsi:type="dcterms:W3CDTF">2026-05-14T13:15:24Z</dcterms:modified>
</cp:coreProperties>
</file>