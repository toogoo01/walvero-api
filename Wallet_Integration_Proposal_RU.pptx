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1A2D5C">
              <a:alpha val="50000"/>
            </a:srgbClr>
          </a:solidFill>
          <a:ln w="12700">
            <a:solidFill>
              <a:srgbClr val="1A2D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0"/>
            <a:ext cx="3657600" cy="3657600"/>
          </a:xfrm>
          <a:prstGeom prst="ellipse">
            <a:avLst/>
          </a:prstGeom>
          <a:solidFill>
            <a:srgbClr val="4F7CAC">
              <a:alpha val="30000"/>
            </a:srgbClr>
          </a:solidFill>
          <a:ln w="12700">
            <a:solidFill>
              <a:srgbClr val="4F7CAC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82296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ДЛЯ italdizan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724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 и Google Wallet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777240" y="2194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для программы лояльности italdizan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77724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 программы лояльности — в реальном времени, безопасно и масштабируемо.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77240" y="4023360"/>
            <a:ext cx="2286000" cy="45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ПОДГОТОВЛЕНО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772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Walvero Loyalty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29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7724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7724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 — Подготовлено для italdizan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 в наше предложение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" y="16642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6642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09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23544" y="20756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потребностей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3544" y="23774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 и технические требования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16552" y="16642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16642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709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0756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решения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1144" y="23774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Walvero в общих чертах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74152" y="16642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4152" y="16642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1709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38744" y="20756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выбрать нашу платформу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38744" y="23774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Преимущества и опыт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" y="25786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25786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2624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3544" y="29900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" y="32918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1С, API и кошельков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16552" y="25786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16552" y="25786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1144" y="2624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81144" y="29900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 Apple и Google Wallet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81144" y="32918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карт, обновления, использование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74152" y="25786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74152" y="25786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38744" y="2624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238744" y="29900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и Push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38744" y="32918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и FCM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" y="34930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" y="34930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23544" y="39044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1С ↔ API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3544" y="42062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Endpoint-ы, поля, безопасность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16552" y="34930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16552" y="34930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81144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581144" y="39044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Бизнес-процессы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81144" y="42062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Регистрация, начисление, списание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74152" y="34930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74152" y="34930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38744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238744" y="39044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Sequence-диаграмма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238744" y="42062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схема всех потоков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58952" y="44074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8952" y="44074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3544" y="4453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23544" y="48188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карт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23544" y="51206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рекомендации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416552" y="44074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16552" y="44074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81144" y="4453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4581144" y="48188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приватность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81144" y="51206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Шифрование, изоляция, NDA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074152" y="44074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74152" y="44074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38744" y="4453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8238744" y="48188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Аналитическая панель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238744" y="51206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отчётов и KPI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58952" y="53218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58952" y="53218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3544" y="5367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923544" y="57332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и этапы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923544" y="60350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416552" y="53218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16552" y="53218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81144" y="5367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4581144" y="57332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4581144" y="60350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по этапам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Потребности italdizan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Краткий обзор ваших требований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120640" cy="457200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ТЕКУЩЕЕ СОСТОЯНИЕ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68680" y="3136392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полного перехода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200400" y="3136392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магазина / склада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868680" y="5010912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ID клиента (телефон)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4160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+ AZN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200400" y="5010912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кешбэк + скидки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 ЗАПРОСИЛИ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286000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0080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пластиковых карт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0" y="2514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переход на Apple и Google Wallet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944368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400800" y="28986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1С ↔ API в реальном времени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00800" y="31729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 создаются, обновляются и синхронизируются автоматически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602736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00800" y="35570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на карте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400800" y="38313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Имя, кешбэк %, баланс, статусы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26110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00800" y="42153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Push-уведомления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400800" y="448970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 и обновления баланса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91947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400800" y="4873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дашборды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400800" y="51480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покупок, клиентов, использования карт</a:t>
            </a:r>
            <a:endParaRPr lang="en-US" sz="11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5577840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400800" y="5532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Приватность данных и NDA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400800" y="5806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данных клиентов и конфиденциальность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решения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платформа лояльности с поддержкой Wallet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0972800" cy="137160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LoyaltyApi — multi-tenant SaaS, .NET 8 + EF Core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21488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Работающая, проверенная платформа — Apple Wallet, Google Wallet, синхронизация с POS, push-уведомления, регистрация клиентов, управление филиалами и аналитика — уже создана и работает.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306324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3741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Wallet-карты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3931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Apple .pkpass + Google Wallet JWT ссылки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43400" y="306324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0" y="329184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337413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0" y="3931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 баланса и статуса доставляются мгновенно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92440" y="306324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21040" y="329184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337413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321040" y="3931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для iOS, FCM для Android — промо и обновления баланса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94360" y="493776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24865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API для 1С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22960" y="5806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с токен-авторизацией, вебхуки в 1С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343400" y="493776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572000" y="516636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5248656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1208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572000" y="5806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Шифрование, изоляция, журналы аудита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8092440" y="493776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321040" y="516636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5248656"/>
            <a:ext cx="338328" cy="33832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96112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Аналитическая панель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8321040" y="5806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Клиенты, продажи, карты, списания, удержание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наша платформа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причин выбрать нас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417320" y="1554480"/>
            <a:ext cx="27432" cy="68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5361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создано и проверено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9019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greenfield risk. Apple Wallet, Google Wallet, POS sync, customer enrolment and webhooks are fully implemented in the LoyaltyApi codebase.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417320" y="2514600"/>
            <a:ext cx="27432" cy="68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4963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архитектура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8620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Изолированные данные и учётные данные для каждого клиента. Масштабируется без переделок свыше 4 магазинов.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417320" y="3474720"/>
            <a:ext cx="27432" cy="68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34564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Открытый, документированный 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8221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endpoint-ы, коллекции Postman, OpenAPI/Swagger. Ваша команда 1С интегрируется за дни, а не недели.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3434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1417320" y="4434840"/>
            <a:ext cx="27432" cy="68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4416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Двусторонняя синхронизация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7823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→ Wallet (обновление баланса) и Wallet → POS (списания, транзакции). APNS + FCM под капотом.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3035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1417320" y="5394960"/>
            <a:ext cx="27432" cy="68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5376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приватность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57424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 чувствительных данных (cert-ключи, токены), JWT, изолированные токены. NDA — стандартная практика.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1С, наш API и кошельки связаны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926080" cy="32918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2926080" cy="4114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1С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68880"/>
            <a:ext cx="640080" cy="64008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19856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клиентов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1246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675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 и балансы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05072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968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кешбэка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9768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90288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4553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Филиалы и POS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069080" y="1828800"/>
            <a:ext cx="3657600" cy="32918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4069080" y="1828800"/>
            <a:ext cx="3657600" cy="41148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41605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Walvero API on Microsoft Azure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423160"/>
            <a:ext cx="731520" cy="73152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4297680" y="3383280"/>
            <a:ext cx="3200400" cy="50292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4434840" y="3410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WebAPI контроллеры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4434840" y="36393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endpoint-ы + вебхуки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4297680" y="3950208"/>
            <a:ext cx="3200400" cy="50292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434840" y="3977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Бизнес-сервисы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4434840" y="4206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Apple/Google Wallet, POS sync, Push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4297680" y="4517136"/>
            <a:ext cx="3200400" cy="50292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4434840" y="4544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данным (EF)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434840" y="4773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БД, аудит, репозитории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8275320" y="1828800"/>
            <a:ext cx="3657600" cy="32918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275320" y="1828800"/>
            <a:ext cx="3657600" cy="4114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836676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Устройства клиентов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8458200" y="246888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80" y="2697480"/>
            <a:ext cx="594360" cy="5943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3268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932688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.pkpass + APNS push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8458200" y="361188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080" y="3840480"/>
            <a:ext cx="594360" cy="59436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32688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932688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LoyaltyObject + FCM push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3566160" y="3310128"/>
            <a:ext cx="457200" cy="32918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7772400" y="3310128"/>
            <a:ext cx="457200" cy="32918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347472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Вебхуки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768096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/ FCM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594360" y="5715000"/>
            <a:ext cx="10972800" cy="777240"/>
          </a:xfrm>
          <a:prstGeom prst="rect">
            <a:avLst/>
          </a:prstGeom>
          <a:solidFill>
            <a:srgbClr val="0F1A3C"/>
          </a:solidFill>
          <a:ln w="25400">
            <a:solidFill>
              <a:srgbClr val="F2C94C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594360" y="5715000"/>
            <a:ext cx="109728" cy="7772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822960" y="5852160"/>
            <a:ext cx="502920" cy="5029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822960" y="5852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M·A</a:t>
            </a:r>
            <a:endParaRPr lang="en-US" sz="1600" dirty="0"/>
          </a:p>
        </p:txBody>
      </p:sp>
      <p:sp>
        <p:nvSpPr>
          <p:cNvPr id="51" name="Text 40"/>
          <p:cNvSpPr/>
          <p:nvPr/>
        </p:nvSpPr>
        <p:spPr>
          <a:xfrm>
            <a:off x="1463040" y="5760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Stack + Azure Cloud</a:t>
            </a:r>
            <a:endParaRPr lang="en-US" sz="1600" dirty="0"/>
          </a:p>
        </p:txBody>
      </p:sp>
      <p:sp>
        <p:nvSpPr>
          <p:cNvPr id="52" name="Text 41"/>
          <p:cNvSpPr/>
          <p:nvPr/>
        </p:nvSpPr>
        <p:spPr>
          <a:xfrm>
            <a:off x="146304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Построено на технологиях Microsoft — .NET 8, EF Core, SQL Server — и размещено в Microsoft Azure.</a:t>
            </a:r>
            <a:endParaRPr lang="en-US" sz="1100" dirty="0"/>
          </a:p>
        </p:txBody>
      </p:sp>
      <p:sp>
        <p:nvSpPr>
          <p:cNvPr id="53" name="Shape 4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55" name="Text 44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Apple Wallet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.pkpass — реальный пример из проекта Mamajan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4572000" cy="475488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/sessions/amazing-epic-lovelace/mnt/LoyaltyApi/apple-walle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069" y="1668780"/>
            <a:ext cx="2048342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Действующий пример — карта Mamajan (Apple Wallet)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0" y="155448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ДЕЛАЕМ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8288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Серверная подпись, динамические обновления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760720" y="242316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5054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0" y="24048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Кастомный дизайн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09360" y="2624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Логотип, цвета, hero-изображение, поля — полностью под бренд italdizan в рамках правил Apple.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760720" y="306324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314553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304495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обновления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09360" y="3264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Баланс, кешбэк %, статус — обновляются на устройстве без переустановки.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760720" y="370332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78561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368503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push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09360" y="390448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отправляет silent-уведомление → устройство автоматически обновляет карту.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760720" y="434340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442569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09360" y="43251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PKI-подпись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309360" y="45445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type cert + WWDR + tenant key. Хранится зашифрованно в нашей БД.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760720" y="498348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5065776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09360" y="49651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Add-to-Wallet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309360" y="518464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или QR. Работает из SMS, email или веба.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5760720" y="562356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3016" y="5705856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09360" y="56052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на клиента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309360" y="58247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серийный номер; привязка к клиенту, филиалу и программе.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Google Wallet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LoyaltyClass + LoyaltyObject — реальный пример из проекта Mamajan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4572000" cy="475488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/sessions/amazing-epic-lovelace/mnt/LoyaltyApi/google-walle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629" y="1668780"/>
            <a:ext cx="2001222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Действующий пример — карта Mamajan (Google Wallet)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0" y="155448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ДЕЛАЕМ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8288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LoyaltyObject API + JWT ссылки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760720" y="242316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5054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0" y="24048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Кастомный дизайн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09360" y="2624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Логотип, hero, название программы, цвета — под бренд italdizan в рамках Google.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760720" y="306324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314553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304495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 LoyaltyObject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09360" y="3264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объекта → все устройства видят новое значение за секунды.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760720" y="370332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78561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368503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(Android)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09360" y="390448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Кастомные сообщения и обновления баланса через Firebase Cloud Messaging.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760720" y="434340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442569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09360" y="43251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auth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309360" y="45445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Зашифрованный service-account JSON на каждого клиента; изолированные issuer ID.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760720" y="498348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5065776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09360" y="49651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Save-to-Wallet JWT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309360" y="518464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Подписанный JWT на каждого клиента — готовая ссылка или кнопка.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5760720" y="562356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3016" y="5705856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09360" y="56052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на клиента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309360" y="58247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objectId — привязка к программе, клиенту, филиалу.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и Push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транзакции 1С до экрана клиента за секунды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8660" y="1828800"/>
            <a:ext cx="196596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" y="1828800"/>
            <a:ext cx="19659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154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640080" cy="64008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560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010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1С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Покупка, пополнение,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статуса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9192" y="2807208"/>
            <a:ext cx="219456" cy="23774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03220" y="1828800"/>
            <a:ext cx="196596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03220" y="1828800"/>
            <a:ext cx="19659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8610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566160" y="2423160"/>
            <a:ext cx="640080" cy="64008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56032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9466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 → API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99466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REST-вызов: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+ delta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873752" y="2807208"/>
            <a:ext cx="219456" cy="23774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97780" y="1828800"/>
            <a:ext cx="1965960" cy="219456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97780" y="1828800"/>
            <a:ext cx="19659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8066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760720" y="2423160"/>
            <a:ext cx="640080" cy="640080"/>
          </a:xfrm>
          <a:prstGeom prst="ellipse">
            <a:avLst/>
          </a:prstGeom>
          <a:solidFill>
            <a:srgbClr val="1A2D5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56032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8922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18922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сохранить, пересчёт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068312" y="2807208"/>
            <a:ext cx="219456" cy="23774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92340" y="1828800"/>
            <a:ext cx="196596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92340" y="1828800"/>
            <a:ext cx="19659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7522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7955280" y="2423160"/>
            <a:ext cx="640080" cy="64008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56032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38378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38378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для iOS,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для Android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262872" y="2807208"/>
            <a:ext cx="219456" cy="23774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486900" y="1828800"/>
            <a:ext cx="196596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486900" y="1828800"/>
            <a:ext cx="19659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66978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10149840" y="2423160"/>
            <a:ext cx="640080" cy="64008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560320"/>
            <a:ext cx="365760" cy="3657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57834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обновлена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957834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обновляется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594360" y="4572000"/>
            <a:ext cx="3535680" cy="13258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46320"/>
            <a:ext cx="502920" cy="5029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508760" y="480060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Типичная задержка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1508760" y="5120640"/>
            <a:ext cx="252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секунд (POS → карта обновлена на устройстве)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4312920" y="4572000"/>
            <a:ext cx="3535680" cy="13258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7240" y="4846320"/>
            <a:ext cx="502920" cy="50292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227320" y="480060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уведомлений</a:t>
            </a:r>
            <a:endParaRPr lang="en-US" sz="1300" dirty="0"/>
          </a:p>
        </p:txBody>
      </p:sp>
      <p:sp>
        <p:nvSpPr>
          <p:cNvPr id="51" name="Text 42"/>
          <p:cNvSpPr/>
          <p:nvPr/>
        </p:nvSpPr>
        <p:spPr>
          <a:xfrm>
            <a:off x="5227320" y="5120640"/>
            <a:ext cx="252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• Промо • Кешбэк • Награды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8031480" y="4572000"/>
            <a:ext cx="3535680" cy="13258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5800" y="4846320"/>
            <a:ext cx="502920" cy="50292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8945880" y="480060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300" dirty="0"/>
          </a:p>
        </p:txBody>
      </p:sp>
      <p:sp>
        <p:nvSpPr>
          <p:cNvPr id="55" name="Text 45"/>
          <p:cNvSpPr/>
          <p:nvPr/>
        </p:nvSpPr>
        <p:spPr>
          <a:xfrm>
            <a:off x="8945880" y="5120640"/>
            <a:ext cx="252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Повторы с задержкой, dead-letter, ключи идемпотентности</a:t>
            </a:r>
            <a:endParaRPr lang="en-US" sz="1100" dirty="0"/>
          </a:p>
        </p:txBody>
      </p:sp>
      <p:sp>
        <p:nvSpPr>
          <p:cNvPr id="56" name="Shape 4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58" name="Text 48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1С ↔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предоставляем, что нам нужно и как защищаем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91440" cy="45720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ОТ 1С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ключ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194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9240" y="2194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Примечание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450592"/>
            <a:ext cx="5212080" cy="1828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клиента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974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external_id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2514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4924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2816352"/>
            <a:ext cx="5394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8437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7480" y="2843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(E.164)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6280" y="2843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49240" y="2843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172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имя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97480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26280" y="3172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4924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опционально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3474720"/>
            <a:ext cx="5394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502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Кешбэк 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97480" y="3502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cashback_percent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26280" y="3502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49240" y="3502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3831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97480" y="3831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discount_percent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26280" y="38313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4924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опционально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4133088"/>
            <a:ext cx="5394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9748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balance_amount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26280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" y="4489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697480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26280" y="4489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49240" y="4489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опционально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7240" y="4791456"/>
            <a:ext cx="5394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4818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Филиал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697480" y="4818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branch_code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26280" y="48188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49240" y="4818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68680" y="5148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697480" y="5148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{ id, amount, type }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26280" y="5148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349240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ENDPOINT-Ы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46520" y="2103120"/>
            <a:ext cx="5120640" cy="548640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83680" y="2221992"/>
            <a:ext cx="502920" cy="3108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22219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78040" y="2148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/api/wallet/collect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178040" y="239572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клиента — телефон, OTP, профиль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46520" y="2706624"/>
            <a:ext cx="5120640" cy="548640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83680" y="2825496"/>
            <a:ext cx="502920" cy="3108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2825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78040" y="2752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/api/wallet/get_wallet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178040" y="29992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баланса и статуса из 1С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46520" y="3310128"/>
            <a:ext cx="5120640" cy="548640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83680" y="3429000"/>
            <a:ext cx="502920" cy="3108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83680" y="34290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178040" y="3355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/api/wallet/set_redeem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178040" y="360273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Применить списание / начисление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46520" y="3913632"/>
            <a:ext cx="5120640" cy="548640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83680" y="4032504"/>
            <a:ext cx="502920" cy="3108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8368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178040" y="39593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/api/wallet/set_verify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178040" y="420624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OTP для списания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46520" y="4654296"/>
            <a:ext cx="5120640" cy="7772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7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4837176"/>
            <a:ext cx="365760" cy="36576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7132320" y="47000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Bearer-токены по клиенту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7132320" y="49743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HMAC-подписи вебхуков + IP allowlist + TLS 1.2+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Бизнес-процессы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работают регистрация, начисление и списание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474720" cy="48463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3474720" cy="1371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клиента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548640" cy="274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71800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заполняет форму в приложении или на сайте Walvero.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630168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номер отправляется OTP — подтверждение владения.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4288536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2245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проверки OTP клиент добавляется в Walvero.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4946904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88289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Walvero проверяет 1С italdizan по номеру.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5605272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54126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найден → берём ID и баланс, отправляем в Wallet.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нет → вызываем endpoint italdizan для создания клиента.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1508760"/>
            <a:ext cx="3474720" cy="4846320"/>
          </a:xfrm>
          <a:prstGeom prst="rect">
            <a:avLst/>
          </a:prstGeom>
          <a:solidFill>
            <a:srgbClr val="0F1A3C"/>
          </a:solidFill>
          <a:ln w="25400">
            <a:solidFill>
              <a:srgbClr val="F2C9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1508760"/>
            <a:ext cx="3474720" cy="1371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61772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Начисление бонуса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617720" y="2834640"/>
            <a:ext cx="548640" cy="274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971800"/>
            <a:ext cx="310896" cy="31089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совершает покупку в магазине italdizan.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630168"/>
            <a:ext cx="310896" cy="31089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 отправляет в Walvero: ID клиента + сумма покупки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(или рассчитанный бонус).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4288536"/>
            <a:ext cx="310896" cy="31089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42245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Walvero применяет правило, обновляет баланс в БД.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4946904"/>
            <a:ext cx="310896" cy="31089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0" y="488289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обновляется — Apple + Google в реальном времени.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5605272"/>
            <a:ext cx="310896" cy="31089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0" y="554126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Отправляется push: «Начислен бонус — новый баланс X».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92440" y="1508760"/>
            <a:ext cx="3474720" cy="48463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92440" y="1508760"/>
            <a:ext cx="3474720" cy="13716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667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836676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Списание бонуса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366760" y="2834640"/>
            <a:ext cx="548640" cy="274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66760" y="2971800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6676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7824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просит списать X AZN → на телефон отправляется SMS с OTP.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366760" y="3630168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77824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 вводит OTP в 1С → 1С отправляет запрос в Walvero.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366760" y="4288536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6676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778240" y="42245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Walvero проверяет OTP.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366760" y="4946904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6676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778240" y="488289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корректно → баланс списан, в 1С возвращается success.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66760" y="5605272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6676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778240" y="554126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отправляется push.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OTP неверный → возвращается ошибка.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бизнес-процессов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Sequence-диаграмма — Клиент ↔ Walvero ↔ 1С/italdizan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1521440" cy="58521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sessions/amazing-epic-lovelace/mnt/LoyaltyApi/business_flows_landscape_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11338560" cy="5669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карт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рекомендации по платформам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30352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5303520" cy="82296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Строгий макет — каждое поле важно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271576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5 полей: header, primary, secondary, auxiliary, back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321868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Логотип + strip-изображение + цвет фона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372160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Штрих-код внизу (PDF417 или QR)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422452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 текста / подписи / фона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472744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300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Tap-back: условия, поддержка, политика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400" y="523036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Auto-relevancy: локации, биконы (опц.)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63640" y="1554480"/>
            <a:ext cx="530352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1554480"/>
            <a:ext cx="5303520" cy="822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3232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132320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гибкий — программа + объект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583680" y="271576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8122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Hero-изображение, логотип, название всегда видны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583680" y="321868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8122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Кастомные text-модули для доп. контента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583680" y="372160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1228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Связанные офферы / награды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583680" y="422452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81228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счёта + статус рядом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583680" y="472744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1228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Rich-уведомления (картинка + CTA)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583680" y="523036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81228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Локализация на несколько языков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94360" y="6080760"/>
            <a:ext cx="10972800" cy="4114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44768"/>
            <a:ext cx="292608" cy="29260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188720" y="60807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мы поставляем дизайн-систему с брендингом — цвета, логотип, hero, шрифты — настраивается из админки.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приватность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данных — в хранении, передаче и обработке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4767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Шифрованная БД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данные italdizan — клиенты, балансы, учётные данные — хранятся в БД в зашифрованном виде, не в открытом тексте.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55448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155448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182880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4767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при передаче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1772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HTTPS. TLS 1.2+, HSTS, современные шифры. Никаких данных в открытом виде не передаётся.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92440" y="155448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92440" y="155448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66760" y="182880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4767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изоляция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36676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italdizan полностью изолированы — отдельные учётные данные, записи интеграции и логи аудита. Без cross-tenant доступа.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94360" y="393192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" y="393192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8680" y="420624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4592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и контроль доступа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6868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Bearer-токены по клиенту, RBAC, IP allowlist для вебхуков 1С.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343400" y="393192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343400" y="393192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17720" y="420624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32511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9496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и логирование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461772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событие wallet, push и вызов 1С логируется с correlation ID и сохраняется для проверки.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92440" y="393192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092440" y="393192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366760" y="420624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325112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14400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к NDA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836676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подписать NDA в первый день — без возражений. GDPR-совместимое хранение; right-to-delete поддерживается.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Аналитическая панель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пример — дополнительные визуализации по запросу italdizan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698480" cy="5434525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sessions/amazing-epic-lovelace/mnt/LoyaltyApi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10515600" cy="52516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и этапы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 — 4 недели до запуска, затем 2 месяца бесплатно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36576" cy="37490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874520"/>
            <a:ext cx="274320" cy="274320"/>
          </a:xfrm>
          <a:prstGeom prst="ellipse">
            <a:avLst/>
          </a:prstGeom>
          <a:solidFill>
            <a:srgbClr val="0F1A3C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783080"/>
            <a:ext cx="10241280" cy="8458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783080"/>
            <a:ext cx="1280160" cy="8458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783080"/>
            <a:ext cx="128016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финализация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Подписание NDA и договора, workshop по требованиям, маппинг полей 1С, учётные данные Apple/Google. Результат: ТЗ.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" y="2811780"/>
            <a:ext cx="274320" cy="274320"/>
          </a:xfrm>
          <a:prstGeom prst="ellipse">
            <a:avLst/>
          </a:prstGeom>
          <a:solidFill>
            <a:srgbClr val="0F1A3C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8117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2720340"/>
            <a:ext cx="10241280" cy="8458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2720340"/>
            <a:ext cx="1280160" cy="8458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720340"/>
            <a:ext cx="128016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8117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и утверждение тестовой версии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13182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карт (Apple + Google), шаблоны push, проверка и утверждение тестовой версии.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" y="3749040"/>
            <a:ext cx="274320" cy="274320"/>
          </a:xfrm>
          <a:prstGeom prst="ellipse">
            <a:avLst/>
          </a:prstGeom>
          <a:solidFill>
            <a:srgbClr val="0F1A3C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80160" y="3657600"/>
            <a:ext cx="10241280" cy="8458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3657600"/>
            <a:ext cx="1280160" cy="8458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657600"/>
            <a:ext cx="128016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 3-4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37490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сдача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40690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1С, настройка push, end-to-end тесты, обучение, выход в прод по 4 магазинам.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5528" y="4686300"/>
            <a:ext cx="274320" cy="274320"/>
          </a:xfrm>
          <a:prstGeom prst="ellipse">
            <a:avLst/>
          </a:prstGeom>
          <a:solidFill>
            <a:srgbClr val="0F1A3C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46863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280160" y="4594860"/>
            <a:ext cx="10241280" cy="8458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4594860"/>
            <a:ext cx="1280160" cy="8458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594860"/>
            <a:ext cx="128016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Месяцы 1-2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0" y="46863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пробный период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0" y="500634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работа на проде без оплаты. Оплата только после 2 месяцев — без рисков для italdizan.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Ориентировочно — уточняется после workshop'а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474720" cy="46177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3474720" cy="1371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ЕДИНОРАЗОВО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2606040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Первичное развёртывание за наш счёт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65760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требований и техническое ТЗ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6849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учётных данных Apple и Google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7939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1С ↔ API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028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карты (Apple + Google)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901184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4855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тесты и UAT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212080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43000" y="5166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в прод и обучение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4343400" y="1508760"/>
            <a:ext cx="3474720" cy="4617720"/>
          </a:xfrm>
          <a:prstGeom prst="rect">
            <a:avLst/>
          </a:prstGeom>
          <a:solidFill>
            <a:srgbClr val="0F1A3C"/>
          </a:solidFill>
          <a:ln w="25400">
            <a:solidFill>
              <a:srgbClr val="F2C94C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343400" y="1508760"/>
            <a:ext cx="3474720" cy="1371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61772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ТОЧКУ ПРОДАЖ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6177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Ежемесячно</a:t>
            </a:r>
            <a:endParaRPr lang="en-US" sz="2400" dirty="0"/>
          </a:p>
        </p:txBody>
      </p:sp>
      <p:sp>
        <p:nvSpPr>
          <p:cNvPr id="28" name="Shape 20"/>
          <p:cNvSpPr/>
          <p:nvPr/>
        </p:nvSpPr>
        <p:spPr>
          <a:xfrm>
            <a:off x="4617720" y="2606040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61772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AZN</a:t>
            </a:r>
            <a:endParaRPr lang="en-US" sz="2600" dirty="0"/>
          </a:p>
        </p:txBody>
      </p:sp>
      <p:sp>
        <p:nvSpPr>
          <p:cNvPr id="30" name="Text 22"/>
          <p:cNvSpPr/>
          <p:nvPr/>
        </p:nvSpPr>
        <p:spPr>
          <a:xfrm>
            <a:off x="46177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активный магазин / POS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657600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9204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платформы Walvero</a:t>
            </a:r>
            <a:endParaRPr lang="en-US" sz="11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3968496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892040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Apple + Google Wallet</a:t>
            </a:r>
            <a:endParaRPr lang="en-US" sz="11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4279392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89204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1С ↔ API в реальном времени</a:t>
            </a:r>
            <a:endParaRPr lang="en-US" sz="11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4590288"/>
            <a:ext cx="201168" cy="20116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89204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Аналитическая панель включена</a:t>
            </a:r>
            <a:endParaRPr lang="en-US" sz="11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7720" y="4901184"/>
            <a:ext cx="201168" cy="20116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4892040" y="4855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Стандартная поддержка (рабочие часы)</a:t>
            </a:r>
            <a:endParaRPr lang="en-US" sz="11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7720" y="5212080"/>
            <a:ext cx="201168" cy="20116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4892040" y="5166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Хранилище, бэкапы, мониторинг</a:t>
            </a:r>
            <a:endParaRPr lang="en-US" sz="1100" dirty="0"/>
          </a:p>
        </p:txBody>
      </p:sp>
      <p:sp>
        <p:nvSpPr>
          <p:cNvPr id="43" name="Shape 29"/>
          <p:cNvSpPr/>
          <p:nvPr/>
        </p:nvSpPr>
        <p:spPr>
          <a:xfrm>
            <a:off x="8092440" y="1508760"/>
            <a:ext cx="3474720" cy="46177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4" name="Shape 30"/>
          <p:cNvSpPr/>
          <p:nvPr/>
        </p:nvSpPr>
        <p:spPr>
          <a:xfrm>
            <a:off x="8092440" y="1508760"/>
            <a:ext cx="3474720" cy="13716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836676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БЕЗ РИСКОВ</a:t>
            </a:r>
            <a:endParaRPr lang="en-US" sz="1100" dirty="0"/>
          </a:p>
        </p:txBody>
      </p:sp>
      <p:sp>
        <p:nvSpPr>
          <p:cNvPr id="46" name="Text 32"/>
          <p:cNvSpPr/>
          <p:nvPr/>
        </p:nvSpPr>
        <p:spPr>
          <a:xfrm>
            <a:off x="836676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месяца бесплатно</a:t>
            </a:r>
            <a:endParaRPr lang="en-US" sz="2400" dirty="0"/>
          </a:p>
        </p:txBody>
      </p:sp>
      <p:sp>
        <p:nvSpPr>
          <p:cNvPr id="47" name="Shape 33"/>
          <p:cNvSpPr/>
          <p:nvPr/>
        </p:nvSpPr>
        <p:spPr>
          <a:xfrm>
            <a:off x="8366760" y="2606040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8" name="Text 34"/>
          <p:cNvSpPr/>
          <p:nvPr/>
        </p:nvSpPr>
        <p:spPr>
          <a:xfrm>
            <a:off x="836676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Включено</a:t>
            </a:r>
            <a:endParaRPr lang="en-US" sz="2600" dirty="0"/>
          </a:p>
        </p:txBody>
      </p:sp>
      <p:sp>
        <p:nvSpPr>
          <p:cNvPr id="49" name="Text 35"/>
          <p:cNvSpPr/>
          <p:nvPr/>
        </p:nvSpPr>
        <p:spPr>
          <a:xfrm>
            <a:off x="836676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2 месяца — без оплаты</a:t>
            </a:r>
            <a:endParaRPr lang="en-US" sz="10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6760" y="3657600"/>
            <a:ext cx="201168" cy="20116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864108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платформа — все функции</a:t>
            </a:r>
            <a:endParaRPr lang="en-US" sz="11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6760" y="3968496"/>
            <a:ext cx="201168" cy="20116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8641080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продакшен-данные</a:t>
            </a:r>
            <a:endParaRPr lang="en-US" sz="11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6760" y="4279392"/>
            <a:ext cx="201168" cy="201168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864108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Push-уведомления включены</a:t>
            </a:r>
            <a:endParaRPr lang="en-US" sz="110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6760" y="4590288"/>
            <a:ext cx="201168" cy="201168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864108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аналитика</a:t>
            </a:r>
            <a:endParaRPr lang="en-US" sz="1100" dirty="0"/>
          </a:p>
        </p:txBody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6760" y="4901184"/>
            <a:ext cx="201168" cy="201168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8641080" y="4855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обязательств</a:t>
            </a:r>
            <a:endParaRPr lang="en-US" sz="1100" dirty="0"/>
          </a:p>
        </p:txBody>
      </p:sp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6760" y="5212080"/>
            <a:ext cx="201168" cy="201168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8641080" y="5166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только после пробного периода</a:t>
            </a:r>
            <a:endParaRPr lang="en-US" sz="1100" dirty="0"/>
          </a:p>
        </p:txBody>
      </p:sp>
      <p:sp>
        <p:nvSpPr>
          <p:cNvPr id="62" name="Text 42"/>
          <p:cNvSpPr/>
          <p:nvPr/>
        </p:nvSpPr>
        <p:spPr>
          <a:xfrm>
            <a:off x="59436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для italdizan (4 магазина): 4 × 250 AZN = 1 000 AZN / мес., после 2-месячного бесплатного периода. Сборы за developer-аккаунты Apple/Google — за счёт клиента.</a:t>
            </a:r>
            <a:endParaRPr lang="en-US" sz="950" dirty="0"/>
          </a:p>
        </p:txBody>
      </p:sp>
      <p:sp>
        <p:nvSpPr>
          <p:cNvPr id="63" name="Shape 4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64" name="Text 4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интеграции Wallet • Walvero Loyalty → italdizan</a:t>
            </a:r>
            <a:endParaRPr lang="en-US" sz="900" dirty="0"/>
          </a:p>
        </p:txBody>
      </p:sp>
      <p:sp>
        <p:nvSpPr>
          <p:cNvPr id="65" name="Text 4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A2D5C">
              <a:alpha val="50000"/>
            </a:srgbClr>
          </a:solidFill>
          <a:ln w="12700">
            <a:solidFill>
              <a:srgbClr val="1A2D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4F7CAC">
              <a:alpha val="30000"/>
            </a:srgbClr>
          </a:solidFill>
          <a:ln w="12700">
            <a:solidFill>
              <a:srgbClr val="4F7CA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ДАЛЬНЕЙШИЕ ШАГИ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Давайте запустим ваши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карты лояльности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3352800" cy="182880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200400"/>
            <a:ext cx="73152" cy="1828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794760"/>
            <a:ext cx="289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Подписать NDA и договор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20624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готовы подписать NDA — без возражений. Договор готов за 48 часов.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4360" y="3200400"/>
            <a:ext cx="3352800" cy="182880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4360" y="3200400"/>
            <a:ext cx="73152" cy="1828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868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78680" y="3794760"/>
            <a:ext cx="289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Бесплатное развёртывание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78680" y="420624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Разворачиваем без оплаты. Неделя 1: технические детали. Неделя 2: утверждение дизайна.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31480" y="3200400"/>
            <a:ext cx="3352800" cy="182880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1480" y="3200400"/>
            <a:ext cx="73152" cy="1828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3794760"/>
            <a:ext cx="289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+ 2 месяца бесплатно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5800" y="420624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 3-4: полный запуск. Затем 2 месяца бесплатного использования.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начать?  •  info@walvero.com  •  Walvero Loyalty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Предложение по интеграции Apple Wallet и Google Wallet</dc:title>
  <dc:subject>PptxGenJS Presentation</dc:subject>
  <dc:creator>Walvero Loyalty</dc:creator>
  <cp:lastModifiedBy>Walvero Loyalty</cp:lastModifiedBy>
  <cp:revision>1</cp:revision>
  <dcterms:created xsi:type="dcterms:W3CDTF">2026-05-14T13:15:25Z</dcterms:created>
  <dcterms:modified xsi:type="dcterms:W3CDTF">2026-05-14T13:15:25Z</dcterms:modified>
</cp:coreProperties>
</file>